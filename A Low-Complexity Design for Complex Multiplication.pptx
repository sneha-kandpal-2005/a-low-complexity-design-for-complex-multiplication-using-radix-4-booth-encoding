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12192000"/>
  <p:notesSz cx="6858000" cy="9144000"/>
  <p:embeddedFontLst>
    <p:embeddedFont>
      <p:font typeface="Franklin Gothic"/>
      <p:bold r:id="rId22"/>
    </p:embeddedFont>
    <p:embeddedFont>
      <p:font typeface="Questrial"/>
      <p:regular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A054F36-A25C-4365-8678-A0695DE47EAC}">
  <a:tblStyle styleId="{1A054F36-A25C-4365-8678-A0695DE47EA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BD459078-12F2-40B4-83AB-1F0C04B91B1C}"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font" Target="fonts/FranklinGothic-bold.fntdata"/><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Questrial-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9a28d2b6c7_2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g39a28d2b6c7_2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9a28d2b6c7_2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g39a28d2b6c7_2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9a28d2b6c7_3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g39a28d2b6c7_3_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9a28d2b6c7_3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g39a28d2b6c7_3_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9a28d2b6c7_2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g39a28d2b6c7_2_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11" name="Shape 11"/>
        <p:cNvGrpSpPr/>
        <p:nvPr/>
      </p:nvGrpSpPr>
      <p:grpSpPr>
        <a:xfrm>
          <a:off x="0" y="0"/>
          <a:ext cx="0" cy="0"/>
          <a:chOff x="0" y="0"/>
          <a:chExt cx="0" cy="0"/>
        </a:xfrm>
      </p:grpSpPr>
      <p:sp>
        <p:nvSpPr>
          <p:cNvPr id="12" name="Google Shape;12;p2"/>
          <p:cNvSpPr/>
          <p:nvPr/>
        </p:nvSpPr>
        <p:spPr>
          <a:xfrm>
            <a:off x="1" y="0"/>
            <a:ext cx="12203372" cy="736270"/>
          </a:xfrm>
          <a:prstGeom prst="rect">
            <a:avLst/>
          </a:prstGeom>
          <a:gradFill>
            <a:gsLst>
              <a:gs pos="0">
                <a:srgbClr val="166018"/>
              </a:gs>
              <a:gs pos="1000">
                <a:srgbClr val="166018"/>
              </a:gs>
              <a:gs pos="52000">
                <a:srgbClr val="00B0F0"/>
              </a:gs>
              <a:gs pos="100000">
                <a:srgbClr val="323F4F"/>
              </a:gs>
            </a:gsLst>
            <a:path path="circle">
              <a:fillToRect b="0%" l="100%" r="0%" t="100%"/>
            </a:path>
            <a:tileRect b="-100%" l="0%" r="-100%" t="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Franklin Gothic"/>
                <a:ea typeface="Franklin Gothic"/>
                <a:cs typeface="Franklin Gothic"/>
                <a:sym typeface="Franklin Gothic"/>
              </a:rPr>
              <a:t>INDIAN INSTITUTE OF TECHNOLOGY ROORKEE</a:t>
            </a:r>
            <a:endParaRPr/>
          </a:p>
        </p:txBody>
      </p:sp>
      <p:pic>
        <p:nvPicPr>
          <p:cNvPr id="13" name="Google Shape;13;p2"/>
          <p:cNvPicPr preferRelativeResize="0"/>
          <p:nvPr/>
        </p:nvPicPr>
        <p:blipFill rotWithShape="1">
          <a:blip r:embed="rId2">
            <a:alphaModFix/>
          </a:blip>
          <a:srcRect b="0" l="0" r="0" t="0"/>
          <a:stretch/>
        </p:blipFill>
        <p:spPr>
          <a:xfrm>
            <a:off x="11170527" y="-1281"/>
            <a:ext cx="1007771" cy="732103"/>
          </a:xfrm>
          <a:prstGeom prst="rect">
            <a:avLst/>
          </a:prstGeom>
          <a:noFill/>
          <a:ln>
            <a:noFill/>
          </a:ln>
        </p:spPr>
      </p:pic>
      <p:pic>
        <p:nvPicPr>
          <p:cNvPr id="14" name="Google Shape;14;p2"/>
          <p:cNvPicPr preferRelativeResize="0"/>
          <p:nvPr/>
        </p:nvPicPr>
        <p:blipFill rotWithShape="1">
          <a:blip r:embed="rId3">
            <a:alphaModFix/>
          </a:blip>
          <a:srcRect b="0" l="0" r="0" t="0"/>
          <a:stretch/>
        </p:blipFill>
        <p:spPr>
          <a:xfrm>
            <a:off x="1" y="5006150"/>
            <a:ext cx="12178303" cy="18518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p:cSld name="Content Slide">
    <p:spTree>
      <p:nvGrpSpPr>
        <p:cNvPr id="15" name="Shape 15"/>
        <p:cNvGrpSpPr/>
        <p:nvPr/>
      </p:nvGrpSpPr>
      <p:grpSpPr>
        <a:xfrm>
          <a:off x="0" y="0"/>
          <a:ext cx="0" cy="0"/>
          <a:chOff x="0" y="0"/>
          <a:chExt cx="0" cy="0"/>
        </a:xfrm>
      </p:grpSpPr>
      <p:sp>
        <p:nvSpPr>
          <p:cNvPr id="16" name="Google Shape;16;p3"/>
          <p:cNvSpPr txBox="1"/>
          <p:nvPr>
            <p:ph idx="1" type="body"/>
          </p:nvPr>
        </p:nvSpPr>
        <p:spPr>
          <a:xfrm>
            <a:off x="240872" y="1173984"/>
            <a:ext cx="11690849" cy="5223272"/>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000"/>
              </a:spcBef>
              <a:spcAft>
                <a:spcPts val="0"/>
              </a:spcAft>
              <a:buClr>
                <a:schemeClr val="dk1"/>
              </a:buClr>
              <a:buSzPts val="2400"/>
              <a:buChar char="•"/>
              <a:defRPr sz="2400">
                <a:latin typeface="Arial"/>
                <a:ea typeface="Arial"/>
                <a:cs typeface="Arial"/>
                <a:sym typeface="Arial"/>
              </a:defRPr>
            </a:lvl1pPr>
            <a:lvl2pPr indent="-355600" lvl="1" marL="914400" algn="l">
              <a:lnSpc>
                <a:spcPct val="90000"/>
              </a:lnSpc>
              <a:spcBef>
                <a:spcPts val="500"/>
              </a:spcBef>
              <a:spcAft>
                <a:spcPts val="0"/>
              </a:spcAft>
              <a:buClr>
                <a:schemeClr val="dk1"/>
              </a:buClr>
              <a:buSzPts val="2000"/>
              <a:buChar char="•"/>
              <a:defRPr sz="2000">
                <a:latin typeface="Arial"/>
                <a:ea typeface="Arial"/>
                <a:cs typeface="Arial"/>
                <a:sym typeface="Arial"/>
              </a:defRPr>
            </a:lvl2pPr>
            <a:lvl3pPr indent="-342900" lvl="2" marL="1371600" algn="l">
              <a:lnSpc>
                <a:spcPct val="90000"/>
              </a:lnSpc>
              <a:spcBef>
                <a:spcPts val="500"/>
              </a:spcBef>
              <a:spcAft>
                <a:spcPts val="0"/>
              </a:spcAft>
              <a:buClr>
                <a:schemeClr val="dk1"/>
              </a:buClr>
              <a:buSzPts val="1800"/>
              <a:buChar char="•"/>
              <a:defRPr sz="1800">
                <a:latin typeface="Arial"/>
                <a:ea typeface="Arial"/>
                <a:cs typeface="Arial"/>
                <a:sym typeface="Arial"/>
              </a:defRPr>
            </a:lvl3pPr>
            <a:lvl4pPr indent="-330200" lvl="3" marL="1828800" algn="l">
              <a:lnSpc>
                <a:spcPct val="90000"/>
              </a:lnSpc>
              <a:spcBef>
                <a:spcPts val="500"/>
              </a:spcBef>
              <a:spcAft>
                <a:spcPts val="0"/>
              </a:spcAft>
              <a:buClr>
                <a:schemeClr val="dk1"/>
              </a:buClr>
              <a:buSzPts val="1600"/>
              <a:buChar char="•"/>
              <a:defRPr sz="1600">
                <a:latin typeface="Arial"/>
                <a:ea typeface="Arial"/>
                <a:cs typeface="Arial"/>
                <a:sym typeface="Arial"/>
              </a:defRPr>
            </a:lvl4pPr>
            <a:lvl5pPr indent="-330200" lvl="4" marL="2286000" algn="l">
              <a:lnSpc>
                <a:spcPct val="90000"/>
              </a:lnSpc>
              <a:spcBef>
                <a:spcPts val="500"/>
              </a:spcBef>
              <a:spcAft>
                <a:spcPts val="0"/>
              </a:spcAft>
              <a:buClr>
                <a:schemeClr val="dk1"/>
              </a:buClr>
              <a:buSzPts val="1600"/>
              <a:buChar char="•"/>
              <a:defRPr sz="1600">
                <a:latin typeface="Arial"/>
                <a:ea typeface="Arial"/>
                <a:cs typeface="Arial"/>
                <a:sym typeface="Arial"/>
              </a:defRPr>
            </a:lvl5pPr>
            <a:lvl6pPr indent="-330200" lvl="5" marL="2743200" algn="l">
              <a:lnSpc>
                <a:spcPct val="90000"/>
              </a:lnSpc>
              <a:spcBef>
                <a:spcPts val="500"/>
              </a:spcBef>
              <a:spcAft>
                <a:spcPts val="0"/>
              </a:spcAft>
              <a:buClr>
                <a:schemeClr val="dk1"/>
              </a:buClr>
              <a:buSzPts val="1600"/>
              <a:buChar char="•"/>
              <a:defRPr sz="1600"/>
            </a:lvl6pPr>
            <a:lvl7pPr indent="-330200" lvl="6" marL="3200400" algn="l">
              <a:lnSpc>
                <a:spcPct val="90000"/>
              </a:lnSpc>
              <a:spcBef>
                <a:spcPts val="500"/>
              </a:spcBef>
              <a:spcAft>
                <a:spcPts val="0"/>
              </a:spcAft>
              <a:buClr>
                <a:schemeClr val="dk1"/>
              </a:buClr>
              <a:buSzPts val="1600"/>
              <a:buChar char="•"/>
              <a:defRPr sz="1600"/>
            </a:lvl7pPr>
            <a:lvl8pPr indent="-330200" lvl="7" marL="3657600" algn="l">
              <a:lnSpc>
                <a:spcPct val="90000"/>
              </a:lnSpc>
              <a:spcBef>
                <a:spcPts val="500"/>
              </a:spcBef>
              <a:spcAft>
                <a:spcPts val="0"/>
              </a:spcAft>
              <a:buClr>
                <a:schemeClr val="dk1"/>
              </a:buClr>
              <a:buSzPts val="1600"/>
              <a:buChar char="•"/>
              <a:defRPr sz="1600"/>
            </a:lvl8pPr>
            <a:lvl9pPr indent="-330200" lvl="8" marL="4114800" algn="l">
              <a:lnSpc>
                <a:spcPct val="90000"/>
              </a:lnSpc>
              <a:spcBef>
                <a:spcPts val="500"/>
              </a:spcBef>
              <a:spcAft>
                <a:spcPts val="0"/>
              </a:spcAft>
              <a:buClr>
                <a:schemeClr val="dk1"/>
              </a:buClr>
              <a:buSzPts val="1600"/>
              <a:buChar char="•"/>
              <a:defRPr sz="1600"/>
            </a:lvl9pPr>
          </a:lstStyle>
          <a:p/>
        </p:txBody>
      </p:sp>
      <p:pic>
        <p:nvPicPr>
          <p:cNvPr id="17" name="Google Shape;17;p3"/>
          <p:cNvPicPr preferRelativeResize="0"/>
          <p:nvPr/>
        </p:nvPicPr>
        <p:blipFill rotWithShape="1">
          <a:blip r:embed="rId2">
            <a:alphaModFix/>
          </a:blip>
          <a:srcRect b="0" l="0" r="0" t="0"/>
          <a:stretch/>
        </p:blipFill>
        <p:spPr>
          <a:xfrm>
            <a:off x="10885714" y="-1480"/>
            <a:ext cx="1306287" cy="961360"/>
          </a:xfrm>
          <a:prstGeom prst="rect">
            <a:avLst/>
          </a:prstGeom>
          <a:noFill/>
          <a:ln>
            <a:noFill/>
          </a:ln>
        </p:spPr>
      </p:pic>
      <p:cxnSp>
        <p:nvCxnSpPr>
          <p:cNvPr id="18" name="Google Shape;18;p3"/>
          <p:cNvCxnSpPr/>
          <p:nvPr/>
        </p:nvCxnSpPr>
        <p:spPr>
          <a:xfrm>
            <a:off x="0" y="990600"/>
            <a:ext cx="12192000" cy="0"/>
          </a:xfrm>
          <a:prstGeom prst="straightConnector1">
            <a:avLst/>
          </a:prstGeom>
          <a:noFill/>
          <a:ln cap="flat" cmpd="sng" w="50800">
            <a:solidFill>
              <a:srgbClr val="2F5496"/>
            </a:solidFill>
            <a:prstDash val="solid"/>
            <a:miter lim="800000"/>
            <a:headEnd len="sm" w="sm" type="none"/>
            <a:tailEnd len="sm" w="sm" type="none"/>
          </a:ln>
        </p:spPr>
      </p:cxnSp>
      <p:cxnSp>
        <p:nvCxnSpPr>
          <p:cNvPr id="19" name="Google Shape;19;p3"/>
          <p:cNvCxnSpPr/>
          <p:nvPr/>
        </p:nvCxnSpPr>
        <p:spPr>
          <a:xfrm>
            <a:off x="0" y="6756400"/>
            <a:ext cx="12192000" cy="0"/>
          </a:xfrm>
          <a:prstGeom prst="straightConnector1">
            <a:avLst/>
          </a:prstGeom>
          <a:noFill/>
          <a:ln cap="flat" cmpd="sng" w="222250">
            <a:solidFill>
              <a:srgbClr val="2F5496"/>
            </a:solidFill>
            <a:prstDash val="solid"/>
            <a:miter lim="800000"/>
            <a:headEnd len="sm" w="sm" type="none"/>
            <a:tailEnd len="sm" w="sm" type="none"/>
          </a:ln>
        </p:spPr>
      </p:cxnSp>
      <p:pic>
        <p:nvPicPr>
          <p:cNvPr id="20" name="Google Shape;20;p3"/>
          <p:cNvPicPr preferRelativeResize="0"/>
          <p:nvPr/>
        </p:nvPicPr>
        <p:blipFill rotWithShape="1">
          <a:blip r:embed="rId3">
            <a:alphaModFix/>
          </a:blip>
          <a:srcRect b="0" l="0" r="0" t="0"/>
          <a:stretch/>
        </p:blipFill>
        <p:spPr>
          <a:xfrm>
            <a:off x="9952263" y="6447292"/>
            <a:ext cx="2222500" cy="198437"/>
          </a:xfrm>
          <a:prstGeom prst="rect">
            <a:avLst/>
          </a:prstGeom>
          <a:noFill/>
          <a:ln>
            <a:noFill/>
          </a:ln>
        </p:spPr>
      </p:pic>
      <p:sp>
        <p:nvSpPr>
          <p:cNvPr id="21" name="Google Shape;21;p3"/>
          <p:cNvSpPr txBox="1"/>
          <p:nvPr/>
        </p:nvSpPr>
        <p:spPr>
          <a:xfrm>
            <a:off x="11176001" y="6607628"/>
            <a:ext cx="1016000" cy="19880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400" u="none" cap="none" strike="noStrike">
                <a:solidFill>
                  <a:schemeClr val="lt1"/>
                </a:solidFill>
                <a:latin typeface="Calibri"/>
                <a:ea typeface="Calibri"/>
                <a:cs typeface="Calibri"/>
                <a:sym typeface="Calibri"/>
              </a:rPr>
              <a:t>‹#›</a:t>
            </a:fld>
            <a:endParaRPr b="1" i="0" sz="1400" u="none" cap="none" strike="noStrike">
              <a:solidFill>
                <a:schemeClr val="lt1"/>
              </a:solidFill>
              <a:latin typeface="Calibri"/>
              <a:ea typeface="Calibri"/>
              <a:cs typeface="Calibri"/>
              <a:sym typeface="Calibri"/>
            </a:endParaRPr>
          </a:p>
        </p:txBody>
      </p:sp>
      <p:sp>
        <p:nvSpPr>
          <p:cNvPr id="22" name="Google Shape;22;p3"/>
          <p:cNvSpPr txBox="1"/>
          <p:nvPr>
            <p:ph type="title"/>
          </p:nvPr>
        </p:nvSpPr>
        <p:spPr>
          <a:xfrm>
            <a:off x="240872" y="202991"/>
            <a:ext cx="9389440" cy="55458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b="1"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3" name="Shape 23"/>
        <p:cNvGrpSpPr/>
        <p:nvPr/>
      </p:nvGrpSpPr>
      <p:grpSpPr>
        <a:xfrm>
          <a:off x="0" y="0"/>
          <a:ext cx="0" cy="0"/>
          <a:chOff x="0" y="0"/>
          <a:chExt cx="0" cy="0"/>
        </a:xfrm>
      </p:grpSpPr>
      <p:sp>
        <p:nvSpPr>
          <p:cNvPr id="24" name="Google Shape;24;p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6" name="Google Shape;26;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9" name="Shape 29"/>
        <p:cNvGrpSpPr/>
        <p:nvPr/>
      </p:nvGrpSpPr>
      <p:grpSpPr>
        <a:xfrm>
          <a:off x="0" y="0"/>
          <a:ext cx="0" cy="0"/>
          <a:chOff x="0" y="0"/>
          <a:chExt cx="0" cy="0"/>
        </a:xfrm>
      </p:grpSpPr>
      <p:sp>
        <p:nvSpPr>
          <p:cNvPr id="30" name="Google Shape;3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5" name="Shape 35"/>
        <p:cNvGrpSpPr/>
        <p:nvPr/>
      </p:nvGrpSpPr>
      <p:grpSpPr>
        <a:xfrm>
          <a:off x="0" y="0"/>
          <a:ext cx="0" cy="0"/>
          <a:chOff x="0" y="0"/>
          <a:chExt cx="0" cy="0"/>
        </a:xfrm>
      </p:grpSpPr>
      <p:sp>
        <p:nvSpPr>
          <p:cNvPr id="36" name="Google Shape;36;p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8" name="Google Shape;38;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1" name="Shape 41"/>
        <p:cNvGrpSpPr/>
        <p:nvPr/>
      </p:nvGrpSpPr>
      <p:grpSpPr>
        <a:xfrm>
          <a:off x="0" y="0"/>
          <a:ext cx="0" cy="0"/>
          <a:chOff x="0" y="0"/>
          <a:chExt cx="0" cy="0"/>
        </a:xfrm>
      </p:grpSpPr>
      <p:sp>
        <p:nvSpPr>
          <p:cNvPr id="42" name="Google Shape;42;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6" name="Shape 66"/>
        <p:cNvGrpSpPr/>
        <p:nvPr/>
      </p:nvGrpSpPr>
      <p:grpSpPr>
        <a:xfrm>
          <a:off x="0" y="0"/>
          <a:ext cx="0" cy="0"/>
          <a:chOff x="0" y="0"/>
          <a:chExt cx="0" cy="0"/>
        </a:xfrm>
      </p:grpSpPr>
      <p:sp>
        <p:nvSpPr>
          <p:cNvPr id="67" name="Google Shape;67;p1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1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9" name="Google Shape;69;p1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3" name="Shape 73"/>
        <p:cNvGrpSpPr/>
        <p:nvPr/>
      </p:nvGrpSpPr>
      <p:grpSpPr>
        <a:xfrm>
          <a:off x="0" y="0"/>
          <a:ext cx="0" cy="0"/>
          <a:chOff x="0" y="0"/>
          <a:chExt cx="0" cy="0"/>
        </a:xfrm>
      </p:grpSpPr>
      <p:sp>
        <p:nvSpPr>
          <p:cNvPr id="74" name="Google Shape;74;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12"/>
          <p:cNvSpPr/>
          <p:nvPr>
            <p:ph idx="2" type="pic"/>
          </p:nvPr>
        </p:nvSpPr>
        <p:spPr>
          <a:xfrm>
            <a:off x="5183188" y="987425"/>
            <a:ext cx="6172200" cy="4873625"/>
          </a:xfrm>
          <a:prstGeom prst="rect">
            <a:avLst/>
          </a:prstGeom>
          <a:noFill/>
          <a:ln>
            <a:noFill/>
          </a:ln>
        </p:spPr>
      </p:sp>
      <p:sp>
        <p:nvSpPr>
          <p:cNvPr id="76" name="Google Shape;76;p1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7" name="Google Shape;7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0" name="Shape 80"/>
        <p:cNvGrpSpPr/>
        <p:nvPr/>
      </p:nvGrpSpPr>
      <p:grpSpPr>
        <a:xfrm>
          <a:off x="0" y="0"/>
          <a:ext cx="0" cy="0"/>
          <a:chOff x="0" y="0"/>
          <a:chExt cx="0" cy="0"/>
        </a:xfrm>
      </p:grpSpPr>
      <p:sp>
        <p:nvSpPr>
          <p:cNvPr id="81" name="Google Shape;81;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1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6" name="Shape 86"/>
        <p:cNvGrpSpPr/>
        <p:nvPr/>
      </p:nvGrpSpPr>
      <p:grpSpPr>
        <a:xfrm>
          <a:off x="0" y="0"/>
          <a:ext cx="0" cy="0"/>
          <a:chOff x="0" y="0"/>
          <a:chExt cx="0" cy="0"/>
        </a:xfrm>
      </p:grpSpPr>
      <p:sp>
        <p:nvSpPr>
          <p:cNvPr id="87" name="Google Shape;87;p1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1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19.png"/><Relationship Id="rId5"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5.png"/><Relationship Id="rId9" Type="http://schemas.openxmlformats.org/officeDocument/2006/relationships/image" Target="../media/image9.png"/><Relationship Id="rId5" Type="http://schemas.openxmlformats.org/officeDocument/2006/relationships/image" Target="../media/image18.png"/><Relationship Id="rId6" Type="http://schemas.openxmlformats.org/officeDocument/2006/relationships/image" Target="../media/image15.png"/><Relationship Id="rId7" Type="http://schemas.openxmlformats.org/officeDocument/2006/relationships/image" Target="../media/image13.png"/><Relationship Id="rId8"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17.png"/><Relationship Id="rId6"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3.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2.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5"/>
          <p:cNvSpPr txBox="1"/>
          <p:nvPr>
            <p:ph idx="4294967295" type="title"/>
          </p:nvPr>
        </p:nvSpPr>
        <p:spPr>
          <a:xfrm>
            <a:off x="2472417" y="1629962"/>
            <a:ext cx="7247100" cy="9867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3600"/>
              <a:buFont typeface="Calibri"/>
              <a:buNone/>
            </a:pPr>
            <a:r>
              <a:rPr b="1" i="0" lang="en-US" sz="4000" u="none" cap="none" strike="noStrike">
                <a:solidFill>
                  <a:schemeClr val="dk1"/>
                </a:solidFill>
                <a:latin typeface="Calibri"/>
                <a:ea typeface="Calibri"/>
                <a:cs typeface="Calibri"/>
                <a:sym typeface="Calibri"/>
              </a:rPr>
              <a:t>A Low-Complexity Design for Complex Multiplication using Radix-4 Booth Encoding</a:t>
            </a:r>
            <a:endParaRPr b="1" i="0" sz="4000" u="none" cap="none" strike="noStrike">
              <a:solidFill>
                <a:schemeClr val="dk1"/>
              </a:solidFill>
              <a:latin typeface="Calibri"/>
              <a:ea typeface="Calibri"/>
              <a:cs typeface="Calibri"/>
              <a:sym typeface="Calibri"/>
            </a:endParaRPr>
          </a:p>
        </p:txBody>
      </p:sp>
      <p:sp>
        <p:nvSpPr>
          <p:cNvPr id="97" name="Google Shape;97;p15"/>
          <p:cNvSpPr txBox="1"/>
          <p:nvPr/>
        </p:nvSpPr>
        <p:spPr>
          <a:xfrm>
            <a:off x="1710525" y="3429000"/>
            <a:ext cx="4135500" cy="1209000"/>
          </a:xfrm>
          <a:prstGeom prst="rect">
            <a:avLst/>
          </a:prstGeom>
          <a:noFill/>
          <a:ln>
            <a:noFill/>
          </a:ln>
        </p:spPr>
        <p:txBody>
          <a:bodyPr anchorCtr="0" anchor="b" bIns="34275" lIns="68575" spcFirstLastPara="1" rIns="68575" wrap="square" tIns="34275">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rPr>
              <a:t>Name:</a:t>
            </a:r>
            <a:r>
              <a:rPr b="0" i="0" lang="en-US" sz="2000" u="none" cap="none" strike="noStrike">
                <a:solidFill>
                  <a:schemeClr val="dk1"/>
                </a:solidFill>
                <a:latin typeface="Arial"/>
                <a:ea typeface="Arial"/>
                <a:cs typeface="Arial"/>
                <a:sym typeface="Arial"/>
              </a:rPr>
              <a:t> Dhruva Sharma</a:t>
            </a:r>
            <a:endParaRPr b="0" i="0" sz="20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2000"/>
              <a:buFont typeface="Arial"/>
              <a:buNone/>
            </a:pPr>
            <a:r>
              <a:rPr b="1" lang="en-US" sz="2000">
                <a:solidFill>
                  <a:schemeClr val="dk1"/>
                </a:solidFill>
              </a:rPr>
              <a:t>Enrollment No:</a:t>
            </a:r>
            <a:r>
              <a:rPr lang="en-US" sz="2000">
                <a:solidFill>
                  <a:schemeClr val="dk1"/>
                </a:solidFill>
              </a:rPr>
              <a:t> 23123016</a:t>
            </a:r>
            <a:endParaRPr sz="2000">
              <a:solidFill>
                <a:schemeClr val="dk1"/>
              </a:solidFill>
            </a:endParaRPr>
          </a:p>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rPr>
              <a:t>Email id:</a:t>
            </a:r>
            <a:r>
              <a:rPr b="0" i="0" lang="en-US" sz="2000" u="none" cap="none" strike="noStrike">
                <a:solidFill>
                  <a:schemeClr val="dk1"/>
                </a:solidFill>
                <a:latin typeface="Arial"/>
                <a:ea typeface="Arial"/>
                <a:cs typeface="Arial"/>
                <a:sym typeface="Arial"/>
              </a:rPr>
              <a:t> dhruva_</a:t>
            </a:r>
            <a:r>
              <a:rPr lang="en-US" sz="2000">
                <a:solidFill>
                  <a:schemeClr val="dk1"/>
                </a:solidFill>
              </a:rPr>
              <a:t>s@ece.iitr.ac.in</a:t>
            </a:r>
            <a:endParaRPr/>
          </a:p>
        </p:txBody>
      </p:sp>
      <p:sp>
        <p:nvSpPr>
          <p:cNvPr id="98" name="Google Shape;98;p15"/>
          <p:cNvSpPr txBox="1"/>
          <p:nvPr/>
        </p:nvSpPr>
        <p:spPr>
          <a:xfrm>
            <a:off x="6698225" y="3429000"/>
            <a:ext cx="3937800" cy="1209000"/>
          </a:xfrm>
          <a:prstGeom prst="rect">
            <a:avLst/>
          </a:prstGeom>
          <a:noFill/>
          <a:ln>
            <a:noFill/>
          </a:ln>
        </p:spPr>
        <p:txBody>
          <a:bodyPr anchorCtr="0" anchor="b" bIns="34275" lIns="68575" spcFirstLastPara="1" rIns="68575" wrap="square" tIns="34275">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rPr>
              <a:t>Name:</a:t>
            </a:r>
            <a:r>
              <a:rPr b="0" i="0" lang="en-US" sz="2000" u="none" cap="none" strike="noStrike">
                <a:solidFill>
                  <a:schemeClr val="dk1"/>
                </a:solidFill>
                <a:latin typeface="Arial"/>
                <a:ea typeface="Arial"/>
                <a:cs typeface="Arial"/>
                <a:sym typeface="Arial"/>
              </a:rPr>
              <a:t> Sneha Kan</a:t>
            </a:r>
            <a:r>
              <a:rPr lang="en-US" sz="2000">
                <a:solidFill>
                  <a:schemeClr val="dk1"/>
                </a:solidFill>
              </a:rPr>
              <a:t>dpal</a:t>
            </a:r>
            <a:endParaRPr sz="2000">
              <a:solidFill>
                <a:schemeClr val="dk1"/>
              </a:solidFill>
            </a:endParaRPr>
          </a:p>
          <a:p>
            <a:pPr indent="0" lvl="0" marL="0" marR="0" rtl="0" algn="l">
              <a:spcBef>
                <a:spcPts val="0"/>
              </a:spcBef>
              <a:spcAft>
                <a:spcPts val="0"/>
              </a:spcAft>
              <a:buClr>
                <a:schemeClr val="dk1"/>
              </a:buClr>
              <a:buSzPts val="2000"/>
              <a:buFont typeface="Arial"/>
              <a:buNone/>
            </a:pPr>
            <a:r>
              <a:rPr b="1" lang="en-US" sz="2000">
                <a:solidFill>
                  <a:schemeClr val="dk1"/>
                </a:solidFill>
              </a:rPr>
              <a:t>Enrollment No:</a:t>
            </a:r>
            <a:r>
              <a:rPr lang="en-US" sz="2000">
                <a:solidFill>
                  <a:schemeClr val="dk1"/>
                </a:solidFill>
              </a:rPr>
              <a:t> 23116092</a:t>
            </a:r>
            <a:endParaRPr sz="2000">
              <a:solidFill>
                <a:schemeClr val="dk1"/>
              </a:solidFill>
            </a:endParaRPr>
          </a:p>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rPr>
              <a:t>Email id:</a:t>
            </a:r>
            <a:r>
              <a:rPr b="0" i="0" lang="en-US" sz="2000" u="none" cap="none" strike="noStrike">
                <a:solidFill>
                  <a:schemeClr val="dk1"/>
                </a:solidFill>
                <a:latin typeface="Arial"/>
                <a:ea typeface="Arial"/>
                <a:cs typeface="Arial"/>
                <a:sym typeface="Arial"/>
              </a:rPr>
              <a:t> sneha_k@ece</a:t>
            </a:r>
            <a:r>
              <a:rPr lang="en-US" sz="2000">
                <a:solidFill>
                  <a:schemeClr val="dk1"/>
                </a:solidFill>
              </a:rPr>
              <a:t>.iitr.ac.in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6"/>
          <p:cNvSpPr txBox="1"/>
          <p:nvPr>
            <p:ph idx="1" type="body"/>
          </p:nvPr>
        </p:nvSpPr>
        <p:spPr>
          <a:xfrm>
            <a:off x="240872" y="1173984"/>
            <a:ext cx="11690849" cy="5223272"/>
          </a:xfrm>
          <a:prstGeom prst="rect">
            <a:avLst/>
          </a:prstGeom>
          <a:noFill/>
          <a:ln>
            <a:noFill/>
          </a:ln>
        </p:spPr>
        <p:txBody>
          <a:bodyPr anchorCtr="0" anchor="t" bIns="45700" lIns="91425" spcFirstLastPara="1" rIns="91425" wrap="square" tIns="45700">
            <a:normAutofit/>
          </a:bodyPr>
          <a:lstStyle/>
          <a:p>
            <a:pPr indent="-228600" lvl="0" marL="400050" rtl="0" algn="l">
              <a:lnSpc>
                <a:spcPct val="90000"/>
              </a:lnSpc>
              <a:spcBef>
                <a:spcPts val="0"/>
              </a:spcBef>
              <a:spcAft>
                <a:spcPts val="0"/>
              </a:spcAft>
              <a:buClr>
                <a:schemeClr val="dk1"/>
              </a:buClr>
              <a:buSzPts val="2400"/>
              <a:buChar char="•"/>
            </a:pPr>
            <a:r>
              <a:rPr lang="en-US"/>
              <a:t>Motivation</a:t>
            </a:r>
            <a:endParaRPr/>
          </a:p>
          <a:p>
            <a:pPr indent="-228600" lvl="0" marL="400050" rtl="0" algn="l">
              <a:lnSpc>
                <a:spcPct val="90000"/>
              </a:lnSpc>
              <a:spcBef>
                <a:spcPts val="1000"/>
              </a:spcBef>
              <a:spcAft>
                <a:spcPts val="0"/>
              </a:spcAft>
              <a:buClr>
                <a:schemeClr val="dk1"/>
              </a:buClr>
              <a:buSzPts val="2400"/>
              <a:buChar char="•"/>
            </a:pPr>
            <a:r>
              <a:rPr lang="en-US"/>
              <a:t>Problem statement</a:t>
            </a:r>
            <a:endParaRPr/>
          </a:p>
          <a:p>
            <a:pPr indent="-228600" lvl="0" marL="400050" rtl="0" algn="l">
              <a:lnSpc>
                <a:spcPct val="90000"/>
              </a:lnSpc>
              <a:spcBef>
                <a:spcPts val="1000"/>
              </a:spcBef>
              <a:spcAft>
                <a:spcPts val="0"/>
              </a:spcAft>
              <a:buClr>
                <a:schemeClr val="dk1"/>
              </a:buClr>
              <a:buSzPts val="2400"/>
              <a:buChar char="•"/>
            </a:pPr>
            <a:r>
              <a:rPr lang="en-US"/>
              <a:t>Block Diagram</a:t>
            </a:r>
            <a:endParaRPr/>
          </a:p>
          <a:p>
            <a:pPr indent="-228600" lvl="0" marL="400050" rtl="0" algn="l">
              <a:lnSpc>
                <a:spcPct val="90000"/>
              </a:lnSpc>
              <a:spcBef>
                <a:spcPts val="1000"/>
              </a:spcBef>
              <a:spcAft>
                <a:spcPts val="0"/>
              </a:spcAft>
              <a:buClr>
                <a:schemeClr val="dk1"/>
              </a:buClr>
              <a:buSzPts val="2400"/>
              <a:buChar char="•"/>
            </a:pPr>
            <a:r>
              <a:rPr lang="en-US"/>
              <a:t>Design Procedure</a:t>
            </a:r>
            <a:endParaRPr/>
          </a:p>
          <a:p>
            <a:pPr indent="-228600" lvl="0" marL="400050" rtl="0" algn="l">
              <a:lnSpc>
                <a:spcPct val="90000"/>
              </a:lnSpc>
              <a:spcBef>
                <a:spcPts val="1000"/>
              </a:spcBef>
              <a:spcAft>
                <a:spcPts val="0"/>
              </a:spcAft>
              <a:buClr>
                <a:schemeClr val="dk1"/>
              </a:buClr>
              <a:buSzPts val="2400"/>
              <a:buChar char="•"/>
            </a:pPr>
            <a:r>
              <a:rPr lang="en-US"/>
              <a:t>Simulation Results</a:t>
            </a:r>
            <a:endParaRPr/>
          </a:p>
          <a:p>
            <a:pPr indent="-228600" lvl="0" marL="400050" rtl="0" algn="l">
              <a:lnSpc>
                <a:spcPct val="90000"/>
              </a:lnSpc>
              <a:spcBef>
                <a:spcPts val="1000"/>
              </a:spcBef>
              <a:spcAft>
                <a:spcPts val="0"/>
              </a:spcAft>
              <a:buClr>
                <a:schemeClr val="dk1"/>
              </a:buClr>
              <a:buSzPts val="2400"/>
              <a:buChar char="•"/>
            </a:pPr>
            <a:r>
              <a:rPr lang="en-US"/>
              <a:t>FPGA Implementation </a:t>
            </a:r>
            <a:endParaRPr/>
          </a:p>
          <a:p>
            <a:pPr indent="-228600" lvl="0" marL="400050" rtl="0" algn="l">
              <a:lnSpc>
                <a:spcPct val="90000"/>
              </a:lnSpc>
              <a:spcBef>
                <a:spcPts val="1000"/>
              </a:spcBef>
              <a:spcAft>
                <a:spcPts val="0"/>
              </a:spcAft>
              <a:buClr>
                <a:schemeClr val="dk1"/>
              </a:buClr>
              <a:buSzPts val="2400"/>
              <a:buChar char="•"/>
            </a:pPr>
            <a:r>
              <a:rPr lang="en-US"/>
              <a:t>Comparison with other designs (If Done)</a:t>
            </a:r>
            <a:endParaRPr/>
          </a:p>
          <a:p>
            <a:pPr indent="-228600" lvl="0" marL="400050" rtl="0" algn="l">
              <a:lnSpc>
                <a:spcPct val="90000"/>
              </a:lnSpc>
              <a:spcBef>
                <a:spcPts val="1000"/>
              </a:spcBef>
              <a:spcAft>
                <a:spcPts val="0"/>
              </a:spcAft>
              <a:buClr>
                <a:schemeClr val="dk1"/>
              </a:buClr>
              <a:buSzPts val="2400"/>
              <a:buChar char="•"/>
            </a:pPr>
            <a:r>
              <a:rPr lang="en-US"/>
              <a:t>Conclusion</a:t>
            </a:r>
            <a:endParaRPr/>
          </a:p>
          <a:p>
            <a:pPr indent="-228600" lvl="0" marL="400050" rtl="0" algn="l">
              <a:lnSpc>
                <a:spcPct val="90000"/>
              </a:lnSpc>
              <a:spcBef>
                <a:spcPts val="1000"/>
              </a:spcBef>
              <a:spcAft>
                <a:spcPts val="0"/>
              </a:spcAft>
              <a:buClr>
                <a:schemeClr val="dk1"/>
              </a:buClr>
              <a:buSzPts val="2400"/>
              <a:buChar char="•"/>
            </a:pPr>
            <a:r>
              <a:rPr lang="en-US"/>
              <a:t>References</a:t>
            </a:r>
            <a:endParaRPr/>
          </a:p>
          <a:p>
            <a:pPr indent="0" lvl="0" marL="0" rtl="0" algn="l">
              <a:lnSpc>
                <a:spcPct val="90000"/>
              </a:lnSpc>
              <a:spcBef>
                <a:spcPts val="1000"/>
              </a:spcBef>
              <a:spcAft>
                <a:spcPts val="0"/>
              </a:spcAft>
              <a:buClr>
                <a:schemeClr val="dk1"/>
              </a:buClr>
              <a:buSzPts val="2400"/>
              <a:buNone/>
            </a:pPr>
            <a:r>
              <a:t/>
            </a:r>
            <a:endParaRPr/>
          </a:p>
          <a:p>
            <a:pPr indent="-76200" lvl="0" marL="228600" rtl="0" algn="l">
              <a:lnSpc>
                <a:spcPct val="90000"/>
              </a:lnSpc>
              <a:spcBef>
                <a:spcPts val="1000"/>
              </a:spcBef>
              <a:spcAft>
                <a:spcPts val="0"/>
              </a:spcAft>
              <a:buClr>
                <a:schemeClr val="dk1"/>
              </a:buClr>
              <a:buSzPts val="2400"/>
              <a:buNone/>
            </a:pPr>
            <a:r>
              <a:t/>
            </a:r>
            <a:endParaRPr/>
          </a:p>
          <a:p>
            <a:pPr indent="-76200" lvl="0" marL="228600" rtl="0" algn="l">
              <a:lnSpc>
                <a:spcPct val="90000"/>
              </a:lnSpc>
              <a:spcBef>
                <a:spcPts val="1000"/>
              </a:spcBef>
              <a:spcAft>
                <a:spcPts val="0"/>
              </a:spcAft>
              <a:buClr>
                <a:schemeClr val="dk1"/>
              </a:buClr>
              <a:buSzPts val="2400"/>
              <a:buNone/>
            </a:pPr>
            <a:r>
              <a:t/>
            </a:r>
            <a:endParaRPr/>
          </a:p>
        </p:txBody>
      </p:sp>
      <p:sp>
        <p:nvSpPr>
          <p:cNvPr id="104" name="Google Shape;104;p16"/>
          <p:cNvSpPr txBox="1"/>
          <p:nvPr>
            <p:ph type="title"/>
          </p:nvPr>
        </p:nvSpPr>
        <p:spPr>
          <a:xfrm>
            <a:off x="240872" y="202991"/>
            <a:ext cx="9389440" cy="55458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alibri"/>
              <a:buNone/>
            </a:pPr>
            <a:r>
              <a:rPr lang="en-US"/>
              <a:t>Agenda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7"/>
          <p:cNvSpPr txBox="1"/>
          <p:nvPr>
            <p:ph idx="1" type="body"/>
          </p:nvPr>
        </p:nvSpPr>
        <p:spPr>
          <a:xfrm>
            <a:off x="250500" y="7"/>
            <a:ext cx="11691000" cy="13464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00000"/>
              </a:lnSpc>
              <a:spcBef>
                <a:spcPts val="0"/>
              </a:spcBef>
              <a:spcAft>
                <a:spcPts val="0"/>
              </a:spcAft>
              <a:buNone/>
            </a:pPr>
            <a:r>
              <a:t/>
            </a:r>
            <a:endParaRPr sz="2152">
              <a:latin typeface="Times"/>
              <a:ea typeface="Times"/>
              <a:cs typeface="Times"/>
              <a:sym typeface="Times"/>
            </a:endParaRPr>
          </a:p>
          <a:p>
            <a:pPr indent="0" lvl="0" marL="0" rtl="0" algn="l">
              <a:lnSpc>
                <a:spcPct val="100000"/>
              </a:lnSpc>
              <a:spcBef>
                <a:spcPts val="1000"/>
              </a:spcBef>
              <a:spcAft>
                <a:spcPts val="0"/>
              </a:spcAft>
              <a:buNone/>
            </a:pPr>
            <a:r>
              <a:t/>
            </a:r>
            <a:endParaRPr sz="1800">
              <a:latin typeface="Times"/>
              <a:ea typeface="Times"/>
              <a:cs typeface="Times"/>
              <a:sym typeface="Times"/>
            </a:endParaRPr>
          </a:p>
          <a:p>
            <a:pPr indent="0" lvl="0" marL="0" rtl="0" algn="l">
              <a:lnSpc>
                <a:spcPct val="100000"/>
              </a:lnSpc>
              <a:spcBef>
                <a:spcPts val="1000"/>
              </a:spcBef>
              <a:spcAft>
                <a:spcPts val="0"/>
              </a:spcAft>
              <a:buNone/>
            </a:pPr>
            <a:r>
              <a:t/>
            </a:r>
            <a:endParaRPr b="1" sz="1800" u="sng">
              <a:latin typeface="Times"/>
              <a:ea typeface="Times"/>
              <a:cs typeface="Times"/>
              <a:sym typeface="Times"/>
            </a:endParaRPr>
          </a:p>
          <a:p>
            <a:pPr indent="0" lvl="0" marL="0" rtl="0" algn="l">
              <a:lnSpc>
                <a:spcPct val="100000"/>
              </a:lnSpc>
              <a:spcBef>
                <a:spcPts val="1000"/>
              </a:spcBef>
              <a:spcAft>
                <a:spcPts val="0"/>
              </a:spcAft>
              <a:buNone/>
            </a:pPr>
            <a:r>
              <a:t/>
            </a:r>
            <a:endParaRPr b="1" sz="2000" u="sng">
              <a:latin typeface="Times"/>
              <a:ea typeface="Times"/>
              <a:cs typeface="Times"/>
              <a:sym typeface="Times"/>
            </a:endParaRPr>
          </a:p>
          <a:p>
            <a:pPr indent="0" lvl="0" marL="0" rtl="0" algn="l">
              <a:lnSpc>
                <a:spcPct val="100000"/>
              </a:lnSpc>
              <a:spcBef>
                <a:spcPts val="1000"/>
              </a:spcBef>
              <a:spcAft>
                <a:spcPts val="0"/>
              </a:spcAft>
              <a:buNone/>
            </a:pPr>
            <a:r>
              <a:t/>
            </a:r>
            <a:endParaRPr b="1" sz="2000" u="sng">
              <a:latin typeface="Times"/>
              <a:ea typeface="Times"/>
              <a:cs typeface="Times"/>
              <a:sym typeface="Times"/>
            </a:endParaRPr>
          </a:p>
          <a:p>
            <a:pPr indent="0" lvl="0" marL="0" rtl="0" algn="l">
              <a:lnSpc>
                <a:spcPct val="100000"/>
              </a:lnSpc>
              <a:spcBef>
                <a:spcPts val="1000"/>
              </a:spcBef>
              <a:spcAft>
                <a:spcPts val="0"/>
              </a:spcAft>
              <a:buNone/>
            </a:pPr>
            <a:r>
              <a:t/>
            </a:r>
            <a:endParaRPr sz="1400">
              <a:solidFill>
                <a:srgbClr val="5C5948"/>
              </a:solidFill>
              <a:latin typeface="Questrial"/>
              <a:ea typeface="Questrial"/>
              <a:cs typeface="Questrial"/>
              <a:sym typeface="Questrial"/>
            </a:endParaRPr>
          </a:p>
          <a:p>
            <a:pPr indent="0" lvl="0" marL="0" rtl="0" algn="l">
              <a:lnSpc>
                <a:spcPct val="100000"/>
              </a:lnSpc>
              <a:spcBef>
                <a:spcPts val="1000"/>
              </a:spcBef>
              <a:spcAft>
                <a:spcPts val="0"/>
              </a:spcAft>
              <a:buNone/>
            </a:pPr>
            <a:r>
              <a:t/>
            </a:r>
            <a:endParaRPr sz="1400">
              <a:solidFill>
                <a:srgbClr val="5C5948"/>
              </a:solidFill>
              <a:latin typeface="Questrial"/>
              <a:ea typeface="Questrial"/>
              <a:cs typeface="Questrial"/>
              <a:sym typeface="Questrial"/>
            </a:endParaRPr>
          </a:p>
          <a:p>
            <a:pPr indent="0" lvl="0" marL="0" rtl="0" algn="l">
              <a:lnSpc>
                <a:spcPct val="100000"/>
              </a:lnSpc>
              <a:spcBef>
                <a:spcPts val="1000"/>
              </a:spcBef>
              <a:spcAft>
                <a:spcPts val="0"/>
              </a:spcAft>
              <a:buClr>
                <a:schemeClr val="dk1"/>
              </a:buClr>
              <a:buSzPts val="275"/>
              <a:buNone/>
            </a:pPr>
            <a:r>
              <a:rPr lang="en-US" sz="7200">
                <a:latin typeface="Times"/>
                <a:ea typeface="Times"/>
                <a:cs typeface="Times"/>
                <a:sym typeface="Times"/>
              </a:rPr>
              <a:t>Complex multiplication isn't just abstract math; it's the engine behind modern technology.</a:t>
            </a:r>
            <a:endParaRPr sz="7200">
              <a:latin typeface="Times"/>
              <a:ea typeface="Times"/>
              <a:cs typeface="Times"/>
              <a:sym typeface="Times"/>
            </a:endParaRPr>
          </a:p>
          <a:p>
            <a:pPr indent="0" lvl="0" marL="0" rtl="0" algn="l">
              <a:lnSpc>
                <a:spcPct val="100000"/>
              </a:lnSpc>
              <a:spcBef>
                <a:spcPts val="1000"/>
              </a:spcBef>
              <a:spcAft>
                <a:spcPts val="0"/>
              </a:spcAft>
              <a:buClr>
                <a:schemeClr val="dk1"/>
              </a:buClr>
              <a:buSzPts val="275"/>
              <a:buNone/>
            </a:pPr>
            <a:r>
              <a:t/>
            </a:r>
            <a:endParaRPr sz="7200">
              <a:latin typeface="Times"/>
              <a:ea typeface="Times"/>
              <a:cs typeface="Times"/>
              <a:sym typeface="Times"/>
            </a:endParaRPr>
          </a:p>
          <a:p>
            <a:pPr indent="0" lvl="0" marL="0" rtl="0" algn="l">
              <a:lnSpc>
                <a:spcPct val="100000"/>
              </a:lnSpc>
              <a:spcBef>
                <a:spcPts val="1000"/>
              </a:spcBef>
              <a:spcAft>
                <a:spcPts val="0"/>
              </a:spcAft>
              <a:buClr>
                <a:schemeClr val="dk1"/>
              </a:buClr>
              <a:buSzPts val="275"/>
              <a:buNone/>
            </a:pPr>
            <a:r>
              <a:t/>
            </a:r>
            <a:endParaRPr sz="7200">
              <a:latin typeface="Times"/>
              <a:ea typeface="Times"/>
              <a:cs typeface="Times"/>
              <a:sym typeface="Times"/>
            </a:endParaRPr>
          </a:p>
          <a:p>
            <a:pPr indent="0" lvl="0" marL="0" rtl="0" algn="l">
              <a:lnSpc>
                <a:spcPct val="100000"/>
              </a:lnSpc>
              <a:spcBef>
                <a:spcPts val="1000"/>
              </a:spcBef>
              <a:spcAft>
                <a:spcPts val="0"/>
              </a:spcAft>
              <a:buClr>
                <a:schemeClr val="dk1"/>
              </a:buClr>
              <a:buSzPts val="275"/>
              <a:buNone/>
            </a:pPr>
            <a:r>
              <a:t/>
            </a:r>
            <a:endParaRPr b="1" sz="100" u="sng">
              <a:latin typeface="Times"/>
              <a:ea typeface="Times"/>
              <a:cs typeface="Times"/>
              <a:sym typeface="Times"/>
            </a:endParaRPr>
          </a:p>
          <a:p>
            <a:pPr indent="0" lvl="0" marL="0" rtl="0" algn="l">
              <a:lnSpc>
                <a:spcPct val="100000"/>
              </a:lnSpc>
              <a:spcBef>
                <a:spcPts val="1000"/>
              </a:spcBef>
              <a:spcAft>
                <a:spcPts val="0"/>
              </a:spcAft>
              <a:buClr>
                <a:schemeClr val="dk1"/>
              </a:buClr>
              <a:buSzPts val="275"/>
              <a:buNone/>
            </a:pPr>
            <a:r>
              <a:t/>
            </a:r>
            <a:endParaRPr b="1" sz="7286" u="sng">
              <a:latin typeface="Times"/>
              <a:ea typeface="Times"/>
              <a:cs typeface="Times"/>
              <a:sym typeface="Times"/>
            </a:endParaRPr>
          </a:p>
          <a:p>
            <a:pPr indent="0" lvl="0" marL="0" rtl="0" algn="l">
              <a:lnSpc>
                <a:spcPct val="100000"/>
              </a:lnSpc>
              <a:spcBef>
                <a:spcPts val="1000"/>
              </a:spcBef>
              <a:spcAft>
                <a:spcPts val="0"/>
              </a:spcAft>
              <a:buClr>
                <a:schemeClr val="dk1"/>
              </a:buClr>
              <a:buSzPts val="275"/>
              <a:buNone/>
            </a:pPr>
            <a:r>
              <a:rPr b="1" lang="en-US" sz="7286" u="sng">
                <a:latin typeface="Times"/>
                <a:ea typeface="Times"/>
                <a:cs typeface="Times"/>
                <a:sym typeface="Times"/>
              </a:rPr>
              <a:t>Where is it Used?</a:t>
            </a:r>
            <a:endParaRPr b="1" sz="7286" u="sng">
              <a:latin typeface="Times"/>
              <a:ea typeface="Times"/>
              <a:cs typeface="Times"/>
              <a:sym typeface="Times"/>
            </a:endParaRPr>
          </a:p>
          <a:p>
            <a:pPr indent="-344273" lvl="0" marL="457200" rtl="0" algn="l">
              <a:lnSpc>
                <a:spcPct val="100000"/>
              </a:lnSpc>
              <a:spcBef>
                <a:spcPts val="1000"/>
              </a:spcBef>
              <a:spcAft>
                <a:spcPts val="0"/>
              </a:spcAft>
              <a:buClr>
                <a:schemeClr val="dk1"/>
              </a:buClr>
              <a:buSzPct val="100000"/>
              <a:buFont typeface="Questrial"/>
              <a:buChar char="●"/>
            </a:pPr>
            <a:r>
              <a:rPr b="1" lang="en-US" sz="7286">
                <a:latin typeface="Times"/>
                <a:ea typeface="Times"/>
                <a:cs typeface="Times"/>
                <a:sym typeface="Times"/>
              </a:rPr>
              <a:t>Communications:</a:t>
            </a:r>
            <a:r>
              <a:rPr lang="en-US" sz="7286">
                <a:latin typeface="Times"/>
                <a:ea typeface="Times"/>
                <a:cs typeface="Times"/>
                <a:sym typeface="Times"/>
              </a:rPr>
              <a:t> 5G, Wi-Fi, and radar systems all rely on it to process signals.</a:t>
            </a:r>
            <a:endParaRPr sz="7286">
              <a:latin typeface="Times"/>
              <a:ea typeface="Times"/>
              <a:cs typeface="Times"/>
              <a:sym typeface="Times"/>
            </a:endParaRPr>
          </a:p>
          <a:p>
            <a:pPr indent="-344273" lvl="0" marL="457200" rtl="0" algn="l">
              <a:lnSpc>
                <a:spcPct val="100000"/>
              </a:lnSpc>
              <a:spcBef>
                <a:spcPts val="0"/>
              </a:spcBef>
              <a:spcAft>
                <a:spcPts val="0"/>
              </a:spcAft>
              <a:buClr>
                <a:schemeClr val="dk1"/>
              </a:buClr>
              <a:buSzPct val="100000"/>
              <a:buFont typeface="Questrial"/>
              <a:buChar char="●"/>
            </a:pPr>
            <a:r>
              <a:rPr b="1" lang="en-US" sz="7286">
                <a:latin typeface="Times"/>
                <a:ea typeface="Times"/>
                <a:cs typeface="Times"/>
                <a:sym typeface="Times"/>
              </a:rPr>
              <a:t>Signal Processing (DSP)</a:t>
            </a:r>
            <a:r>
              <a:rPr lang="en-US" sz="7286">
                <a:latin typeface="Times"/>
                <a:ea typeface="Times"/>
                <a:cs typeface="Times"/>
                <a:sym typeface="Times"/>
              </a:rPr>
              <a:t>: Essential for audio, video,and medical imaging (like MRIs). (</a:t>
            </a:r>
            <a:r>
              <a:rPr b="1" lang="en-US" sz="7286">
                <a:latin typeface="Times"/>
                <a:ea typeface="Times"/>
                <a:cs typeface="Times"/>
                <a:sym typeface="Times"/>
              </a:rPr>
              <a:t>80% of FFT Cycles</a:t>
            </a:r>
            <a:r>
              <a:rPr lang="en-US" sz="7286">
                <a:latin typeface="Times"/>
                <a:ea typeface="Times"/>
                <a:cs typeface="Times"/>
                <a:sym typeface="Times"/>
              </a:rPr>
              <a:t> are essentially complex multiplications).</a:t>
            </a:r>
            <a:endParaRPr sz="7286">
              <a:latin typeface="Times"/>
              <a:ea typeface="Times"/>
              <a:cs typeface="Times"/>
              <a:sym typeface="Times"/>
            </a:endParaRPr>
          </a:p>
          <a:p>
            <a:pPr indent="0" lvl="0" marL="457200" rtl="0" algn="l">
              <a:lnSpc>
                <a:spcPct val="100000"/>
              </a:lnSpc>
              <a:spcBef>
                <a:spcPts val="1000"/>
              </a:spcBef>
              <a:spcAft>
                <a:spcPts val="0"/>
              </a:spcAft>
              <a:buClr>
                <a:schemeClr val="dk1"/>
              </a:buClr>
              <a:buSzPts val="275"/>
              <a:buNone/>
            </a:pPr>
            <a:r>
              <a:t/>
            </a:r>
            <a:endParaRPr sz="7286">
              <a:latin typeface="Times"/>
              <a:ea typeface="Times"/>
              <a:cs typeface="Times"/>
              <a:sym typeface="Times"/>
            </a:endParaRPr>
          </a:p>
          <a:p>
            <a:pPr indent="0" lvl="0" marL="0" rtl="0" algn="l">
              <a:lnSpc>
                <a:spcPct val="100000"/>
              </a:lnSpc>
              <a:spcBef>
                <a:spcPts val="1000"/>
              </a:spcBef>
              <a:spcAft>
                <a:spcPts val="0"/>
              </a:spcAft>
              <a:buClr>
                <a:schemeClr val="dk1"/>
              </a:buClr>
              <a:buSzPts val="275"/>
              <a:buNone/>
            </a:pPr>
            <a:r>
              <a:rPr b="1" lang="en-US" sz="7286" u="sng">
                <a:latin typeface="Times"/>
                <a:ea typeface="Times"/>
                <a:cs typeface="Times"/>
                <a:sym typeface="Times"/>
              </a:rPr>
              <a:t>The Engineer's Trilemma:</a:t>
            </a:r>
            <a:r>
              <a:rPr lang="en-US" sz="7286">
                <a:latin typeface="Times"/>
                <a:ea typeface="Times"/>
                <a:cs typeface="Times"/>
                <a:sym typeface="Times"/>
              </a:rPr>
              <a:t> For any hardware design, we are always fighting to improve three things -</a:t>
            </a:r>
            <a:r>
              <a:rPr b="1" lang="en-US" sz="7286">
                <a:latin typeface="Times"/>
                <a:ea typeface="Times"/>
                <a:cs typeface="Times"/>
                <a:sym typeface="Times"/>
              </a:rPr>
              <a:t> </a:t>
            </a:r>
            <a:endParaRPr b="1" sz="7286">
              <a:latin typeface="Times"/>
              <a:ea typeface="Times"/>
              <a:cs typeface="Times"/>
              <a:sym typeface="Times"/>
            </a:endParaRPr>
          </a:p>
          <a:p>
            <a:pPr indent="-344273" lvl="0" marL="457200" rtl="0" algn="l">
              <a:lnSpc>
                <a:spcPct val="100000"/>
              </a:lnSpc>
              <a:spcBef>
                <a:spcPts val="1000"/>
              </a:spcBef>
              <a:spcAft>
                <a:spcPts val="0"/>
              </a:spcAft>
              <a:buSzPct val="100000"/>
              <a:buFont typeface="Times"/>
              <a:buAutoNum type="arabicPeriod"/>
            </a:pPr>
            <a:r>
              <a:rPr lang="en-US" sz="7286">
                <a:latin typeface="Times"/>
                <a:ea typeface="Times"/>
                <a:cs typeface="Times"/>
                <a:sym typeface="Times"/>
              </a:rPr>
              <a:t>L</a:t>
            </a:r>
            <a:r>
              <a:rPr lang="en-US" sz="7286">
                <a:latin typeface="Times"/>
                <a:ea typeface="Times"/>
                <a:cs typeface="Times"/>
                <a:sym typeface="Times"/>
              </a:rPr>
              <a:t>atency</a:t>
            </a:r>
            <a:endParaRPr sz="7286">
              <a:latin typeface="Times"/>
              <a:ea typeface="Times"/>
              <a:cs typeface="Times"/>
              <a:sym typeface="Times"/>
            </a:endParaRPr>
          </a:p>
          <a:p>
            <a:pPr indent="-344273" lvl="0" marL="457200" rtl="0" algn="l">
              <a:lnSpc>
                <a:spcPct val="100000"/>
              </a:lnSpc>
              <a:spcBef>
                <a:spcPts val="0"/>
              </a:spcBef>
              <a:spcAft>
                <a:spcPts val="0"/>
              </a:spcAft>
              <a:buSzPct val="100000"/>
              <a:buFont typeface="Times"/>
              <a:buAutoNum type="arabicPeriod"/>
            </a:pPr>
            <a:r>
              <a:rPr lang="en-US" sz="7286">
                <a:latin typeface="Times"/>
                <a:ea typeface="Times"/>
                <a:cs typeface="Times"/>
                <a:sym typeface="Times"/>
              </a:rPr>
              <a:t>Power consumption</a:t>
            </a:r>
            <a:endParaRPr sz="7286">
              <a:latin typeface="Times"/>
              <a:ea typeface="Times"/>
              <a:cs typeface="Times"/>
              <a:sym typeface="Times"/>
            </a:endParaRPr>
          </a:p>
          <a:p>
            <a:pPr indent="-344273" lvl="0" marL="457200" rtl="0" algn="l">
              <a:lnSpc>
                <a:spcPct val="100000"/>
              </a:lnSpc>
              <a:spcBef>
                <a:spcPts val="0"/>
              </a:spcBef>
              <a:spcAft>
                <a:spcPts val="0"/>
              </a:spcAft>
              <a:buSzPct val="100000"/>
              <a:buFont typeface="Times"/>
              <a:buAutoNum type="arabicPeriod"/>
            </a:pPr>
            <a:r>
              <a:rPr lang="en-US" sz="7286">
                <a:latin typeface="Times"/>
                <a:ea typeface="Times"/>
                <a:cs typeface="Times"/>
                <a:sym typeface="Times"/>
              </a:rPr>
              <a:t>Area</a:t>
            </a:r>
            <a:endParaRPr sz="7286">
              <a:latin typeface="Times"/>
              <a:ea typeface="Times"/>
              <a:cs typeface="Times"/>
              <a:sym typeface="Times"/>
            </a:endParaRPr>
          </a:p>
          <a:p>
            <a:pPr indent="0" lvl="0" marL="0" rtl="0" algn="l">
              <a:lnSpc>
                <a:spcPct val="100000"/>
              </a:lnSpc>
              <a:spcBef>
                <a:spcPts val="1000"/>
              </a:spcBef>
              <a:spcAft>
                <a:spcPts val="0"/>
              </a:spcAft>
              <a:buClr>
                <a:schemeClr val="dk1"/>
              </a:buClr>
              <a:buSzPts val="275"/>
              <a:buNone/>
            </a:pPr>
            <a:r>
              <a:rPr lang="en-US" sz="7286">
                <a:latin typeface="Times"/>
                <a:ea typeface="Times"/>
                <a:cs typeface="Times"/>
                <a:sym typeface="Times"/>
              </a:rPr>
              <a:t>This paper improves upon all three factors than previous existing architectures.</a:t>
            </a:r>
            <a:endParaRPr sz="7286">
              <a:latin typeface="Times"/>
              <a:ea typeface="Times"/>
              <a:cs typeface="Times"/>
              <a:sym typeface="Times"/>
            </a:endParaRPr>
          </a:p>
          <a:p>
            <a:pPr indent="-76200" lvl="0" marL="228600" rtl="0" algn="l">
              <a:lnSpc>
                <a:spcPct val="90000"/>
              </a:lnSpc>
              <a:spcBef>
                <a:spcPts val="1000"/>
              </a:spcBef>
              <a:spcAft>
                <a:spcPts val="0"/>
              </a:spcAft>
              <a:buClr>
                <a:schemeClr val="dk1"/>
              </a:buClr>
              <a:buSzPct val="100000"/>
              <a:buNone/>
            </a:pPr>
            <a:r>
              <a:t/>
            </a:r>
            <a:endParaRPr/>
          </a:p>
        </p:txBody>
      </p:sp>
      <p:sp>
        <p:nvSpPr>
          <p:cNvPr id="110" name="Google Shape;110;p17"/>
          <p:cNvSpPr txBox="1"/>
          <p:nvPr>
            <p:ph type="title"/>
          </p:nvPr>
        </p:nvSpPr>
        <p:spPr>
          <a:xfrm>
            <a:off x="240872" y="202991"/>
            <a:ext cx="9389440" cy="55458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alibri"/>
              <a:buNone/>
            </a:pPr>
            <a:r>
              <a:rPr lang="en-US"/>
              <a:t>Motivation-</a:t>
            </a:r>
            <a:r>
              <a:rPr b="0" i="1" lang="en-US" sz="3000"/>
              <a:t>Why do we care about this?</a:t>
            </a:r>
            <a:endParaRPr b="0" i="1" sz="3000"/>
          </a:p>
        </p:txBody>
      </p:sp>
      <p:pic>
        <p:nvPicPr>
          <p:cNvPr id="111" name="Google Shape;111;p17"/>
          <p:cNvPicPr preferRelativeResize="0"/>
          <p:nvPr/>
        </p:nvPicPr>
        <p:blipFill rotWithShape="1">
          <a:blip r:embed="rId3">
            <a:alphaModFix/>
          </a:blip>
          <a:srcRect b="26027" l="0" r="0" t="11868"/>
          <a:stretch/>
        </p:blipFill>
        <p:spPr>
          <a:xfrm>
            <a:off x="1526450" y="1597250"/>
            <a:ext cx="4715075" cy="390800"/>
          </a:xfrm>
          <a:prstGeom prst="rect">
            <a:avLst/>
          </a:prstGeom>
          <a:noFill/>
          <a:ln>
            <a:noFill/>
          </a:ln>
        </p:spPr>
      </p:pic>
      <p:sp>
        <p:nvSpPr>
          <p:cNvPr id="112" name="Google Shape;112;p17"/>
          <p:cNvSpPr txBox="1"/>
          <p:nvPr/>
        </p:nvSpPr>
        <p:spPr>
          <a:xfrm>
            <a:off x="402975" y="2066850"/>
            <a:ext cx="7173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00">
                <a:solidFill>
                  <a:schemeClr val="dk1"/>
                </a:solidFill>
                <a:latin typeface="Times"/>
                <a:ea typeface="Times"/>
                <a:cs typeface="Times"/>
                <a:sym typeface="Times"/>
              </a:rPr>
              <a:t> </a:t>
            </a:r>
            <a:r>
              <a:rPr lang="en-US" sz="1800">
                <a:solidFill>
                  <a:schemeClr val="dk1"/>
                </a:solidFill>
                <a:latin typeface="Times"/>
                <a:ea typeface="Times"/>
                <a:cs typeface="Times"/>
                <a:sym typeface="Times"/>
              </a:rPr>
              <a:t>where, a,b,c, and d are M-bit fixed-point numbers.</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8"/>
          <p:cNvSpPr txBox="1"/>
          <p:nvPr>
            <p:ph type="title"/>
          </p:nvPr>
        </p:nvSpPr>
        <p:spPr>
          <a:xfrm>
            <a:off x="240872" y="202991"/>
            <a:ext cx="9389400" cy="554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alibri"/>
              <a:buNone/>
            </a:pPr>
            <a:r>
              <a:rPr lang="en-US"/>
              <a:t>Literature Review</a:t>
            </a:r>
            <a:endParaRPr b="0" i="1" sz="3000"/>
          </a:p>
        </p:txBody>
      </p:sp>
      <p:graphicFrame>
        <p:nvGraphicFramePr>
          <p:cNvPr id="118" name="Google Shape;118;p18"/>
          <p:cNvGraphicFramePr/>
          <p:nvPr/>
        </p:nvGraphicFramePr>
        <p:xfrm>
          <a:off x="5972588" y="1736913"/>
          <a:ext cx="3000000" cy="3000000"/>
        </p:xfrm>
        <a:graphic>
          <a:graphicData uri="http://schemas.openxmlformats.org/drawingml/2006/table">
            <a:tbl>
              <a:tblPr>
                <a:noFill/>
                <a:tableStyleId>{1A054F36-A25C-4365-8678-A0695DE47EAC}</a:tableStyleId>
              </a:tblPr>
              <a:tblGrid>
                <a:gridCol w="1769525"/>
                <a:gridCol w="1188550"/>
                <a:gridCol w="2818400"/>
              </a:tblGrid>
              <a:tr h="496050">
                <a:tc>
                  <a:txBody>
                    <a:bodyPr/>
                    <a:lstStyle/>
                    <a:p>
                      <a:pPr indent="0" lvl="0" marL="0" rtl="0" algn="ctr">
                        <a:lnSpc>
                          <a:spcPct val="115000"/>
                        </a:lnSpc>
                        <a:spcBef>
                          <a:spcPts val="0"/>
                        </a:spcBef>
                        <a:spcAft>
                          <a:spcPts val="0"/>
                        </a:spcAft>
                        <a:buNone/>
                      </a:pPr>
                      <a:r>
                        <a:rPr b="1" lang="en-US" sz="1500"/>
                        <a:t>Method</a:t>
                      </a:r>
                      <a:endParaRPr b="1" sz="15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500"/>
                        <a:t>Pros</a:t>
                      </a:r>
                      <a:endParaRPr b="1" sz="15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500"/>
                        <a:t>Cons</a:t>
                      </a:r>
                      <a:endParaRPr b="1" sz="15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64225">
                <a:tc>
                  <a:txBody>
                    <a:bodyPr/>
                    <a:lstStyle/>
                    <a:p>
                      <a:pPr indent="0" lvl="0" marL="0" rtl="0" algn="l">
                        <a:spcBef>
                          <a:spcPts val="0"/>
                        </a:spcBef>
                        <a:spcAft>
                          <a:spcPts val="0"/>
                        </a:spcAft>
                        <a:buNone/>
                      </a:pPr>
                      <a:r>
                        <a:rPr lang="en-US">
                          <a:solidFill>
                            <a:schemeClr val="dk1"/>
                          </a:solidFill>
                          <a:latin typeface="Questrial"/>
                          <a:ea typeface="Questrial"/>
                          <a:cs typeface="Questrial"/>
                          <a:sym typeface="Questrial"/>
                        </a:rPr>
                        <a:t>Vedic real multiplication</a:t>
                      </a:r>
                      <a:endParaRPr>
                        <a:solidFill>
                          <a:schemeClr val="dk1"/>
                        </a:solidFill>
                        <a:latin typeface="Questrial"/>
                        <a:ea typeface="Questrial"/>
                        <a:cs typeface="Questrial"/>
                        <a:sym typeface="Questria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solidFill>
                            <a:schemeClr val="dk1"/>
                          </a:solidFill>
                          <a:latin typeface="Questrial"/>
                          <a:ea typeface="Questrial"/>
                          <a:cs typeface="Questrial"/>
                          <a:sym typeface="Questrial"/>
                        </a:rPr>
                        <a:t>Fast</a:t>
                      </a:r>
                      <a:endParaRPr>
                        <a:solidFill>
                          <a:schemeClr val="dk1"/>
                        </a:solidFill>
                        <a:latin typeface="Questrial"/>
                        <a:ea typeface="Questrial"/>
                        <a:cs typeface="Questrial"/>
                        <a:sym typeface="Questria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solidFill>
                            <a:schemeClr val="dk1"/>
                          </a:solidFill>
                          <a:latin typeface="Questrial"/>
                          <a:ea typeface="Questrial"/>
                          <a:cs typeface="Questrial"/>
                          <a:sym typeface="Questrial"/>
                        </a:rPr>
                        <a:t>Unsigned only; no sign extension.</a:t>
                      </a:r>
                      <a:endParaRPr>
                        <a:solidFill>
                          <a:schemeClr val="dk1"/>
                        </a:solidFill>
                        <a:latin typeface="Questrial"/>
                        <a:ea typeface="Questrial"/>
                        <a:cs typeface="Questrial"/>
                        <a:sym typeface="Questria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895450">
                <a:tc>
                  <a:txBody>
                    <a:bodyPr/>
                    <a:lstStyle/>
                    <a:p>
                      <a:pPr indent="0" lvl="0" marL="0" rtl="0" algn="l">
                        <a:spcBef>
                          <a:spcPts val="0"/>
                        </a:spcBef>
                        <a:spcAft>
                          <a:spcPts val="0"/>
                        </a:spcAft>
                        <a:buNone/>
                      </a:pPr>
                      <a:r>
                        <a:rPr lang="en-US">
                          <a:solidFill>
                            <a:schemeClr val="dk1"/>
                          </a:solidFill>
                          <a:latin typeface="Questrial"/>
                          <a:ea typeface="Questrial"/>
                          <a:cs typeface="Questrial"/>
                          <a:sym typeface="Questrial"/>
                        </a:rPr>
                        <a:t>Booth Encoding + Wallace Multiplier</a:t>
                      </a:r>
                      <a:endParaRPr>
                        <a:solidFill>
                          <a:schemeClr val="dk1"/>
                        </a:solidFill>
                        <a:latin typeface="Questrial"/>
                        <a:ea typeface="Questrial"/>
                        <a:cs typeface="Questrial"/>
                        <a:sym typeface="Questria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a:solidFill>
                            <a:schemeClr val="dk1"/>
                          </a:solidFill>
                          <a:latin typeface="Questrial"/>
                          <a:ea typeface="Questrial"/>
                          <a:cs typeface="Questrial"/>
                          <a:sym typeface="Questrial"/>
                        </a:rPr>
                        <a:t>Area-time savings</a:t>
                      </a:r>
                      <a:endParaRPr>
                        <a:solidFill>
                          <a:schemeClr val="dk1"/>
                        </a:solidFill>
                        <a:latin typeface="Questrial"/>
                        <a:ea typeface="Questrial"/>
                        <a:cs typeface="Questrial"/>
                        <a:sym typeface="Questria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a:solidFill>
                            <a:schemeClr val="dk1"/>
                          </a:solidFill>
                          <a:latin typeface="Questrial"/>
                          <a:ea typeface="Questrial"/>
                          <a:cs typeface="Questrial"/>
                          <a:sym typeface="Questrial"/>
                        </a:rPr>
                        <a:t>[4]: 2 encoders + 4 CS trees + 4 VMAs + 2 adds/subtracts. </a:t>
                      </a:r>
                      <a:endParaRPr>
                        <a:solidFill>
                          <a:schemeClr val="dk1"/>
                        </a:solidFill>
                        <a:latin typeface="Questrial"/>
                        <a:ea typeface="Questrial"/>
                        <a:cs typeface="Questrial"/>
                        <a:sym typeface="Questrial"/>
                      </a:endParaRPr>
                    </a:p>
                    <a:p>
                      <a:pPr indent="0" lvl="0" marL="0" marR="0" rtl="0" algn="l">
                        <a:lnSpc>
                          <a:spcPct val="100000"/>
                        </a:lnSpc>
                        <a:spcBef>
                          <a:spcPts val="0"/>
                        </a:spcBef>
                        <a:spcAft>
                          <a:spcPts val="0"/>
                        </a:spcAft>
                        <a:buNone/>
                      </a:pPr>
                      <a:r>
                        <a:rPr lang="en-US">
                          <a:solidFill>
                            <a:schemeClr val="dk1"/>
                          </a:solidFill>
                          <a:latin typeface="Questrial"/>
                          <a:ea typeface="Questrial"/>
                          <a:cs typeface="Questrial"/>
                          <a:sym typeface="Questrial"/>
                        </a:rPr>
                        <a:t>[5]: 4 encoders (higher area).</a:t>
                      </a:r>
                      <a:endParaRPr>
                        <a:solidFill>
                          <a:schemeClr val="dk1"/>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33000">
                <a:tc>
                  <a:txBody>
                    <a:bodyPr/>
                    <a:lstStyle/>
                    <a:p>
                      <a:pPr indent="0" lvl="0" marL="0" rtl="0" algn="l">
                        <a:spcBef>
                          <a:spcPts val="0"/>
                        </a:spcBef>
                        <a:spcAft>
                          <a:spcPts val="0"/>
                        </a:spcAft>
                        <a:buNone/>
                      </a:pPr>
                      <a:r>
                        <a:rPr lang="en-US">
                          <a:solidFill>
                            <a:schemeClr val="dk1"/>
                          </a:solidFill>
                          <a:latin typeface="Questrial"/>
                          <a:ea typeface="Questrial"/>
                          <a:cs typeface="Questrial"/>
                          <a:sym typeface="Questrial"/>
                        </a:rPr>
                        <a:t>Recursive CORDIC</a:t>
                      </a:r>
                      <a:endParaRPr>
                        <a:solidFill>
                          <a:schemeClr val="dk1"/>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solidFill>
                            <a:schemeClr val="dk1"/>
                          </a:solidFill>
                          <a:latin typeface="Questrial"/>
                          <a:ea typeface="Questrial"/>
                          <a:cs typeface="Questrial"/>
                          <a:sym typeface="Questrial"/>
                        </a:rPr>
                        <a:t>Low area</a:t>
                      </a:r>
                      <a:endParaRPr>
                        <a:solidFill>
                          <a:schemeClr val="dk1"/>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a:solidFill>
                            <a:schemeClr val="dk1"/>
                          </a:solidFill>
                          <a:latin typeface="Questrial"/>
                          <a:ea typeface="Questrial"/>
                          <a:cs typeface="Questrial"/>
                          <a:sym typeface="Questrial"/>
                        </a:rPr>
                        <a:t>10x slower latency.</a:t>
                      </a:r>
                      <a:endParaRPr>
                        <a:solidFill>
                          <a:schemeClr val="dk1"/>
                        </a:solidFill>
                        <a:latin typeface="Questrial"/>
                        <a:ea typeface="Questrial"/>
                        <a:cs typeface="Questrial"/>
                        <a:sym typeface="Questrial"/>
                      </a:endParaRPr>
                    </a:p>
                  </a:txBody>
                  <a:tcPr marT="91425" marB="91425" marR="91425" marL="91425">
                    <a:lnL cap="flat" cmpd="sng" w="19050">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895450">
                <a:tc>
                  <a:txBody>
                    <a:bodyPr/>
                    <a:lstStyle/>
                    <a:p>
                      <a:pPr indent="0" lvl="0" marL="0" rtl="0" algn="l">
                        <a:spcBef>
                          <a:spcPts val="0"/>
                        </a:spcBef>
                        <a:spcAft>
                          <a:spcPts val="0"/>
                        </a:spcAft>
                        <a:buNone/>
                      </a:pPr>
                      <a:r>
                        <a:rPr lang="en-US">
                          <a:solidFill>
                            <a:schemeClr val="dk1"/>
                          </a:solidFill>
                          <a:latin typeface="Questrial"/>
                          <a:ea typeface="Questrial"/>
                          <a:cs typeface="Questrial"/>
                          <a:sym typeface="Questrial"/>
                        </a:rPr>
                        <a:t>Compressors for partial product reduction</a:t>
                      </a:r>
                      <a:endParaRPr>
                        <a:solidFill>
                          <a:schemeClr val="dk1"/>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solidFill>
                            <a:schemeClr val="dk1"/>
                          </a:solidFill>
                          <a:latin typeface="Questrial"/>
                          <a:ea typeface="Questrial"/>
                          <a:cs typeface="Questrial"/>
                          <a:sym typeface="Questrial"/>
                        </a:rPr>
                        <a:t>High-speed, low-power</a:t>
                      </a:r>
                      <a:endParaRPr>
                        <a:solidFill>
                          <a:schemeClr val="dk1"/>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solidFill>
                            <a:schemeClr val="dk1"/>
                          </a:solidFill>
                          <a:latin typeface="Questrial"/>
                          <a:ea typeface="Questrial"/>
                          <a:cs typeface="Questrial"/>
                          <a:sym typeface="Questrial"/>
                        </a:rPr>
                        <a:t>Still uses 4 multipliers; direct equation (1).</a:t>
                      </a:r>
                      <a:endParaRPr>
                        <a:solidFill>
                          <a:schemeClr val="dk1"/>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119" name="Google Shape;119;p18"/>
          <p:cNvSpPr txBox="1"/>
          <p:nvPr/>
        </p:nvSpPr>
        <p:spPr>
          <a:xfrm>
            <a:off x="142200" y="1013900"/>
            <a:ext cx="5570400" cy="5474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u="sng">
                <a:solidFill>
                  <a:schemeClr val="dk1"/>
                </a:solidFill>
                <a:latin typeface="Times"/>
                <a:ea typeface="Times"/>
                <a:cs typeface="Times"/>
                <a:sym typeface="Times"/>
              </a:rPr>
              <a:t>Naive Implementations:</a:t>
            </a:r>
            <a:endParaRPr b="1" sz="1600">
              <a:solidFill>
                <a:schemeClr val="dk1"/>
              </a:solidFill>
              <a:latin typeface="Times"/>
              <a:ea typeface="Times"/>
              <a:cs typeface="Times"/>
              <a:sym typeface="Times"/>
            </a:endParaRPr>
          </a:p>
          <a:p>
            <a:pPr indent="-317500" lvl="0" marL="457200" rtl="0" algn="l">
              <a:spcBef>
                <a:spcPts val="1000"/>
              </a:spcBef>
              <a:spcAft>
                <a:spcPts val="0"/>
              </a:spcAft>
              <a:buClr>
                <a:srgbClr val="5C5948"/>
              </a:buClr>
              <a:buSzPts val="1400"/>
              <a:buFont typeface="Questrial"/>
              <a:buAutoNum type="arabicPeriod"/>
            </a:pPr>
            <a:r>
              <a:rPr b="1" lang="en-US" sz="1600">
                <a:solidFill>
                  <a:schemeClr val="dk1"/>
                </a:solidFill>
                <a:latin typeface="Times"/>
                <a:ea typeface="Times"/>
                <a:cs typeface="Times"/>
                <a:sym typeface="Times"/>
              </a:rPr>
              <a:t>The Naive Design</a:t>
            </a:r>
            <a:r>
              <a:rPr lang="en-US" sz="1600">
                <a:solidFill>
                  <a:schemeClr val="dk1"/>
                </a:solidFill>
                <a:latin typeface="Times"/>
                <a:ea typeface="Times"/>
                <a:cs typeface="Times"/>
                <a:sym typeface="Times"/>
              </a:rPr>
              <a:t>: 4 Multipliers with 2 Adders (Delay : Tm+Ta):</a:t>
            </a:r>
            <a:endParaRPr sz="1600">
              <a:solidFill>
                <a:schemeClr val="dk1"/>
              </a:solidFill>
              <a:latin typeface="Times"/>
              <a:ea typeface="Times"/>
              <a:cs typeface="Times"/>
              <a:sym typeface="Times"/>
            </a:endParaRPr>
          </a:p>
          <a:p>
            <a:pPr indent="0" lvl="0" marL="0" rtl="0" algn="l">
              <a:spcBef>
                <a:spcPts val="1000"/>
              </a:spcBef>
              <a:spcAft>
                <a:spcPts val="0"/>
              </a:spcAft>
              <a:buNone/>
            </a:pPr>
            <a:r>
              <a:t/>
            </a:r>
            <a:endParaRPr sz="1600">
              <a:solidFill>
                <a:schemeClr val="dk1"/>
              </a:solidFill>
              <a:latin typeface="Times"/>
              <a:ea typeface="Times"/>
              <a:cs typeface="Times"/>
              <a:sym typeface="Times"/>
            </a:endParaRPr>
          </a:p>
          <a:p>
            <a:pPr indent="-317500" lvl="0" marL="457200" rtl="0" algn="l">
              <a:spcBef>
                <a:spcPts val="1000"/>
              </a:spcBef>
              <a:spcAft>
                <a:spcPts val="0"/>
              </a:spcAft>
              <a:buClr>
                <a:srgbClr val="5C5948"/>
              </a:buClr>
              <a:buSzPts val="1400"/>
              <a:buFont typeface="Questrial"/>
              <a:buAutoNum type="arabicPeriod"/>
            </a:pPr>
            <a:r>
              <a:rPr b="1" lang="en-US" sz="1600">
                <a:solidFill>
                  <a:schemeClr val="dk1"/>
                </a:solidFill>
                <a:latin typeface="Times"/>
                <a:ea typeface="Times"/>
                <a:cs typeface="Times"/>
                <a:sym typeface="Times"/>
              </a:rPr>
              <a:t>Gauss algorithm: Slightly better</a:t>
            </a:r>
            <a:r>
              <a:rPr lang="en-US" sz="1600">
                <a:solidFill>
                  <a:schemeClr val="dk1"/>
                </a:solidFill>
                <a:latin typeface="Times"/>
                <a:ea typeface="Times"/>
                <a:cs typeface="Times"/>
                <a:sym typeface="Times"/>
              </a:rPr>
              <a:t> with improved area (3 multipliers with the addition of two more adders), but worse delay (Tm  + 2Ta).</a:t>
            </a:r>
            <a:endParaRPr sz="1600">
              <a:solidFill>
                <a:schemeClr val="dk1"/>
              </a:solidFill>
              <a:latin typeface="Times"/>
              <a:ea typeface="Times"/>
              <a:cs typeface="Times"/>
              <a:sym typeface="Times"/>
            </a:endParaRPr>
          </a:p>
          <a:p>
            <a:pPr indent="0" lvl="0" marL="0" rtl="0" algn="l">
              <a:spcBef>
                <a:spcPts val="1000"/>
              </a:spcBef>
              <a:spcAft>
                <a:spcPts val="0"/>
              </a:spcAft>
              <a:buNone/>
            </a:pPr>
            <a:r>
              <a:t/>
            </a:r>
            <a:endParaRPr sz="1600">
              <a:solidFill>
                <a:schemeClr val="dk1"/>
              </a:solidFill>
              <a:latin typeface="Times"/>
              <a:ea typeface="Times"/>
              <a:cs typeface="Times"/>
              <a:sym typeface="Times"/>
            </a:endParaRPr>
          </a:p>
          <a:p>
            <a:pPr indent="-317500" lvl="0" marL="457200" rtl="0" algn="l">
              <a:spcBef>
                <a:spcPts val="1000"/>
              </a:spcBef>
              <a:spcAft>
                <a:spcPts val="0"/>
              </a:spcAft>
              <a:buClr>
                <a:srgbClr val="5C5948"/>
              </a:buClr>
              <a:buSzPts val="1400"/>
              <a:buFont typeface="Questrial"/>
              <a:buAutoNum type="arabicPeriod"/>
            </a:pPr>
            <a:r>
              <a:rPr b="1" lang="en-US" sz="1600">
                <a:solidFill>
                  <a:schemeClr val="dk1"/>
                </a:solidFill>
                <a:latin typeface="Times"/>
                <a:ea typeface="Times"/>
                <a:cs typeface="Times"/>
                <a:sym typeface="Times"/>
              </a:rPr>
              <a:t>Better than previous</a:t>
            </a:r>
            <a:r>
              <a:rPr lang="en-US" sz="1600">
                <a:solidFill>
                  <a:schemeClr val="dk1"/>
                </a:solidFill>
                <a:latin typeface="Times"/>
                <a:ea typeface="Times"/>
                <a:cs typeface="Times"/>
                <a:sym typeface="Times"/>
              </a:rPr>
              <a:t> (3 multipliers but with only 2 wide (2N- bit) adders compared to previous with 3 wide adders).</a:t>
            </a:r>
            <a:endParaRPr>
              <a:solidFill>
                <a:srgbClr val="5C5948"/>
              </a:solidFill>
              <a:latin typeface="Questrial"/>
              <a:ea typeface="Questrial"/>
              <a:cs typeface="Questrial"/>
              <a:sym typeface="Questrial"/>
            </a:endParaRPr>
          </a:p>
          <a:p>
            <a:pPr indent="0" lvl="0" marL="457200" rtl="0" algn="l">
              <a:spcBef>
                <a:spcPts val="1000"/>
              </a:spcBef>
              <a:spcAft>
                <a:spcPts val="0"/>
              </a:spcAft>
              <a:buNone/>
            </a:pPr>
            <a:r>
              <a:t/>
            </a:r>
            <a:endParaRPr>
              <a:solidFill>
                <a:srgbClr val="5C5948"/>
              </a:solidFill>
              <a:latin typeface="Questrial"/>
              <a:ea typeface="Questrial"/>
              <a:cs typeface="Questrial"/>
              <a:sym typeface="Questrial"/>
            </a:endParaRPr>
          </a:p>
          <a:p>
            <a:pPr indent="0" lvl="0" marL="457200" rtl="0" algn="l">
              <a:spcBef>
                <a:spcPts val="1000"/>
              </a:spcBef>
              <a:spcAft>
                <a:spcPts val="0"/>
              </a:spcAft>
              <a:buNone/>
            </a:pPr>
            <a:r>
              <a:t/>
            </a:r>
            <a:endParaRPr>
              <a:solidFill>
                <a:srgbClr val="5C5948"/>
              </a:solidFill>
              <a:latin typeface="Questrial"/>
              <a:ea typeface="Questrial"/>
              <a:cs typeface="Questrial"/>
              <a:sym typeface="Questrial"/>
            </a:endParaRPr>
          </a:p>
          <a:p>
            <a:pPr indent="0" lvl="0" marL="0" rtl="0" algn="l">
              <a:spcBef>
                <a:spcPts val="1000"/>
              </a:spcBef>
              <a:spcAft>
                <a:spcPts val="0"/>
              </a:spcAft>
              <a:buNone/>
            </a:pPr>
            <a:r>
              <a:t/>
            </a:r>
            <a:endParaRPr b="1" sz="1600" u="sng">
              <a:solidFill>
                <a:schemeClr val="dk1"/>
              </a:solidFill>
              <a:latin typeface="Times"/>
              <a:ea typeface="Times"/>
              <a:cs typeface="Times"/>
              <a:sym typeface="Times"/>
            </a:endParaRPr>
          </a:p>
          <a:p>
            <a:pPr indent="0" lvl="0" marL="0" rtl="0" algn="l">
              <a:spcBef>
                <a:spcPts val="1000"/>
              </a:spcBef>
              <a:spcAft>
                <a:spcPts val="0"/>
              </a:spcAft>
              <a:buNone/>
            </a:pPr>
            <a:r>
              <a:rPr b="1" lang="en-US" sz="1600" u="sng">
                <a:solidFill>
                  <a:schemeClr val="dk1"/>
                </a:solidFill>
                <a:latin typeface="Times"/>
                <a:ea typeface="Times"/>
                <a:cs typeface="Times"/>
                <a:sym typeface="Times"/>
              </a:rPr>
              <a:t>The Bottleneck</a:t>
            </a:r>
            <a:r>
              <a:rPr lang="en-US" sz="1600">
                <a:solidFill>
                  <a:schemeClr val="dk1"/>
                </a:solidFill>
                <a:latin typeface="Times"/>
                <a:ea typeface="Times"/>
                <a:cs typeface="Times"/>
                <a:sym typeface="Times"/>
              </a:rPr>
              <a:t>: Digital Multiplication is </a:t>
            </a:r>
            <a:r>
              <a:rPr b="1" lang="en-US" sz="1600">
                <a:solidFill>
                  <a:srgbClr val="FF0000"/>
                </a:solidFill>
                <a:latin typeface="Times"/>
                <a:ea typeface="Times"/>
                <a:cs typeface="Times"/>
                <a:sym typeface="Times"/>
              </a:rPr>
              <a:t>slow! </a:t>
            </a:r>
            <a:endParaRPr b="1" sz="1600">
              <a:solidFill>
                <a:srgbClr val="FF0000"/>
              </a:solidFill>
              <a:latin typeface="Times"/>
              <a:ea typeface="Times"/>
              <a:cs typeface="Times"/>
              <a:sym typeface="Times"/>
            </a:endParaRPr>
          </a:p>
          <a:p>
            <a:pPr indent="0" lvl="0" marL="0" rtl="0" algn="l">
              <a:spcBef>
                <a:spcPts val="1000"/>
              </a:spcBef>
              <a:spcAft>
                <a:spcPts val="0"/>
              </a:spcAft>
              <a:buNone/>
            </a:pPr>
            <a:r>
              <a:rPr lang="en-US" sz="1600">
                <a:solidFill>
                  <a:schemeClr val="dk1"/>
                </a:solidFill>
                <a:latin typeface="Times"/>
                <a:ea typeface="Times"/>
                <a:cs typeface="Times"/>
                <a:sym typeface="Times"/>
              </a:rPr>
              <a:t>(N</a:t>
            </a:r>
            <a:r>
              <a:rPr baseline="30000" lang="en-US" sz="1600">
                <a:solidFill>
                  <a:schemeClr val="dk1"/>
                </a:solidFill>
                <a:latin typeface="Times"/>
                <a:ea typeface="Times"/>
                <a:cs typeface="Times"/>
                <a:sym typeface="Times"/>
              </a:rPr>
              <a:t>2 </a:t>
            </a:r>
            <a:r>
              <a:rPr lang="en-US" sz="1600">
                <a:solidFill>
                  <a:schemeClr val="dk1"/>
                </a:solidFill>
                <a:latin typeface="Times"/>
                <a:ea typeface="Times"/>
                <a:cs typeface="Times"/>
                <a:sym typeface="Times"/>
              </a:rPr>
              <a:t>partial products for N bit multiplication).</a:t>
            </a:r>
            <a:endParaRPr>
              <a:solidFill>
                <a:srgbClr val="5C5948"/>
              </a:solidFill>
              <a:latin typeface="Questrial"/>
              <a:ea typeface="Questrial"/>
              <a:cs typeface="Questrial"/>
              <a:sym typeface="Questrial"/>
            </a:endParaRPr>
          </a:p>
          <a:p>
            <a:pPr indent="0" lvl="0" marL="0" rtl="0" algn="l">
              <a:spcBef>
                <a:spcPts val="1000"/>
              </a:spcBef>
              <a:spcAft>
                <a:spcPts val="1000"/>
              </a:spcAft>
              <a:buNone/>
            </a:pPr>
            <a:r>
              <a:t/>
            </a:r>
            <a:endParaRPr>
              <a:solidFill>
                <a:srgbClr val="5C5948"/>
              </a:solidFill>
              <a:latin typeface="Questrial"/>
              <a:ea typeface="Questrial"/>
              <a:cs typeface="Questrial"/>
              <a:sym typeface="Questrial"/>
            </a:endParaRPr>
          </a:p>
        </p:txBody>
      </p:sp>
      <p:grpSp>
        <p:nvGrpSpPr>
          <p:cNvPr id="120" name="Google Shape;120;p18"/>
          <p:cNvGrpSpPr/>
          <p:nvPr/>
        </p:nvGrpSpPr>
        <p:grpSpPr>
          <a:xfrm>
            <a:off x="1139850" y="2023712"/>
            <a:ext cx="3537425" cy="2988665"/>
            <a:chOff x="1559525" y="1779150"/>
            <a:chExt cx="3537425" cy="2988665"/>
          </a:xfrm>
        </p:grpSpPr>
        <p:pic>
          <p:nvPicPr>
            <p:cNvPr id="121" name="Google Shape;121;p18"/>
            <p:cNvPicPr preferRelativeResize="0"/>
            <p:nvPr/>
          </p:nvPicPr>
          <p:blipFill>
            <a:blip r:embed="rId3">
              <a:alphaModFix/>
            </a:blip>
            <a:stretch>
              <a:fillRect/>
            </a:stretch>
          </p:blipFill>
          <p:spPr>
            <a:xfrm>
              <a:off x="1671925" y="4070899"/>
              <a:ext cx="3303900" cy="696917"/>
            </a:xfrm>
            <a:prstGeom prst="rect">
              <a:avLst/>
            </a:prstGeom>
            <a:noFill/>
            <a:ln>
              <a:noFill/>
            </a:ln>
          </p:spPr>
        </p:pic>
        <p:grpSp>
          <p:nvGrpSpPr>
            <p:cNvPr id="122" name="Google Shape;122;p18"/>
            <p:cNvGrpSpPr/>
            <p:nvPr/>
          </p:nvGrpSpPr>
          <p:grpSpPr>
            <a:xfrm>
              <a:off x="1559525" y="1779150"/>
              <a:ext cx="3537425" cy="1597911"/>
              <a:chOff x="1559525" y="1779150"/>
              <a:chExt cx="3537425" cy="1597911"/>
            </a:xfrm>
          </p:grpSpPr>
          <p:pic>
            <p:nvPicPr>
              <p:cNvPr id="123" name="Google Shape;123;p18"/>
              <p:cNvPicPr preferRelativeResize="0"/>
              <p:nvPr/>
            </p:nvPicPr>
            <p:blipFill rotWithShape="1">
              <a:blip r:embed="rId4">
                <a:alphaModFix/>
              </a:blip>
              <a:srcRect b="0" l="0" r="1931" t="0"/>
              <a:stretch/>
            </p:blipFill>
            <p:spPr>
              <a:xfrm>
                <a:off x="1559525" y="2991825"/>
                <a:ext cx="3528726" cy="385236"/>
              </a:xfrm>
              <a:prstGeom prst="rect">
                <a:avLst/>
              </a:prstGeom>
              <a:noFill/>
              <a:ln>
                <a:noFill/>
              </a:ln>
            </p:spPr>
          </p:pic>
          <p:pic>
            <p:nvPicPr>
              <p:cNvPr id="124" name="Google Shape;124;p18"/>
              <p:cNvPicPr preferRelativeResize="0"/>
              <p:nvPr/>
            </p:nvPicPr>
            <p:blipFill>
              <a:blip r:embed="rId5">
                <a:alphaModFix/>
              </a:blip>
              <a:stretch>
                <a:fillRect/>
              </a:stretch>
            </p:blipFill>
            <p:spPr>
              <a:xfrm>
                <a:off x="1645500" y="1779150"/>
                <a:ext cx="3451450" cy="460650"/>
              </a:xfrm>
              <a:prstGeom prst="rect">
                <a:avLst/>
              </a:prstGeom>
              <a:noFill/>
              <a:ln>
                <a:noFill/>
              </a:ln>
            </p:spPr>
          </p:pic>
        </p:grpSp>
      </p:grpSp>
      <p:sp>
        <p:nvSpPr>
          <p:cNvPr id="125" name="Google Shape;125;p18"/>
          <p:cNvSpPr txBox="1"/>
          <p:nvPr/>
        </p:nvSpPr>
        <p:spPr>
          <a:xfrm>
            <a:off x="5890725" y="1131125"/>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b="1" lang="en-US" sz="1800" u="sng">
                <a:solidFill>
                  <a:schemeClr val="dk1"/>
                </a:solidFill>
                <a:latin typeface="Times"/>
                <a:ea typeface="Times"/>
                <a:cs typeface="Times"/>
                <a:sym typeface="Times"/>
              </a:rPr>
              <a:t>Existing Architectures:</a:t>
            </a:r>
            <a:endParaRPr b="1" sz="1600">
              <a:solidFill>
                <a:schemeClr val="dk1"/>
              </a:solidFill>
              <a:latin typeface="Times"/>
              <a:ea typeface="Times"/>
              <a:cs typeface="Times"/>
              <a:sym typeface="Times"/>
            </a:endParaRPr>
          </a:p>
        </p:txBody>
      </p:sp>
      <p:sp>
        <p:nvSpPr>
          <p:cNvPr id="126" name="Google Shape;126;p18"/>
          <p:cNvSpPr txBox="1"/>
          <p:nvPr/>
        </p:nvSpPr>
        <p:spPr>
          <a:xfrm>
            <a:off x="5890725" y="5265200"/>
            <a:ext cx="59403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00">
                <a:solidFill>
                  <a:schemeClr val="dk1"/>
                </a:solidFill>
                <a:latin typeface="Times"/>
                <a:ea typeface="Times"/>
                <a:cs typeface="Times"/>
                <a:sym typeface="Times"/>
              </a:rPr>
              <a:t>Existing high-performance designs use a </a:t>
            </a:r>
            <a:r>
              <a:rPr lang="en-US" sz="1600" u="sng">
                <a:solidFill>
                  <a:schemeClr val="dk1"/>
                </a:solidFill>
                <a:latin typeface="Times"/>
                <a:ea typeface="Times"/>
                <a:cs typeface="Times"/>
                <a:sym typeface="Times"/>
              </a:rPr>
              <a:t>two-stage adder</a:t>
            </a:r>
            <a:r>
              <a:rPr lang="en-US" sz="1600">
                <a:solidFill>
                  <a:schemeClr val="dk1"/>
                </a:solidFill>
                <a:latin typeface="Times"/>
                <a:ea typeface="Times"/>
                <a:cs typeface="Times"/>
                <a:sym typeface="Times"/>
              </a:rPr>
              <a:t>—first computing products like ac and bd, then performing a subtraction (ac − bd), which </a:t>
            </a:r>
            <a:r>
              <a:rPr b="1" lang="en-US" sz="1600">
                <a:solidFill>
                  <a:srgbClr val="FF0000"/>
                </a:solidFill>
                <a:latin typeface="Times"/>
                <a:ea typeface="Times"/>
                <a:cs typeface="Times"/>
                <a:sym typeface="Times"/>
              </a:rPr>
              <a:t>adds delay</a:t>
            </a:r>
            <a:r>
              <a:rPr lang="en-US" sz="1600">
                <a:solidFill>
                  <a:schemeClr val="dk1"/>
                </a:solidFill>
                <a:latin typeface="Times"/>
                <a:ea typeface="Times"/>
                <a:cs typeface="Times"/>
                <a:sym typeface="Times"/>
              </a:rPr>
              <a:t> and </a:t>
            </a:r>
            <a:r>
              <a:rPr b="1" lang="en-US" sz="1600">
                <a:solidFill>
                  <a:srgbClr val="FF0000"/>
                </a:solidFill>
                <a:latin typeface="Times"/>
                <a:ea typeface="Times"/>
                <a:cs typeface="Times"/>
                <a:sym typeface="Times"/>
              </a:rPr>
              <a:t>limits speed</a:t>
            </a:r>
            <a:r>
              <a:rPr lang="en-US" sz="1600">
                <a:solidFill>
                  <a:schemeClr val="dk1"/>
                </a:solidFill>
                <a:latin typeface="Times"/>
                <a:ea typeface="Times"/>
                <a:cs typeface="Times"/>
                <a:sym typeface="Times"/>
              </a:rPr>
              <a:t>.</a:t>
            </a:r>
            <a:endParaRPr sz="1600">
              <a:solidFill>
                <a:schemeClr val="dk1"/>
              </a:solidFill>
              <a:latin typeface="Times"/>
              <a:ea typeface="Times"/>
              <a:cs typeface="Times"/>
              <a:sym typeface="Time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9"/>
          <p:cNvSpPr txBox="1"/>
          <p:nvPr>
            <p:ph type="title"/>
          </p:nvPr>
        </p:nvSpPr>
        <p:spPr>
          <a:xfrm>
            <a:off x="240872" y="202991"/>
            <a:ext cx="9389440" cy="55458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alibri"/>
              <a:buNone/>
            </a:pPr>
            <a:r>
              <a:rPr lang="en-US"/>
              <a:t>Problem statement</a:t>
            </a:r>
            <a:endParaRPr/>
          </a:p>
        </p:txBody>
      </p:sp>
      <p:sp>
        <p:nvSpPr>
          <p:cNvPr id="132" name="Google Shape;132;p19"/>
          <p:cNvSpPr txBox="1"/>
          <p:nvPr/>
        </p:nvSpPr>
        <p:spPr>
          <a:xfrm>
            <a:off x="240875" y="1279475"/>
            <a:ext cx="11572500" cy="5147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1600">
                <a:solidFill>
                  <a:schemeClr val="dk1"/>
                </a:solidFill>
                <a:latin typeface="Times"/>
                <a:ea typeface="Times"/>
                <a:cs typeface="Times"/>
                <a:sym typeface="Times"/>
              </a:rPr>
              <a:t>The paper addresses the need for a </a:t>
            </a:r>
            <a:r>
              <a:rPr b="1" lang="en-US" sz="1600">
                <a:solidFill>
                  <a:srgbClr val="166018"/>
                </a:solidFill>
                <a:latin typeface="Times"/>
                <a:ea typeface="Times"/>
                <a:cs typeface="Times"/>
                <a:sym typeface="Times"/>
              </a:rPr>
              <a:t>low-complexity, faster, and more power-efficient hardware architecture</a:t>
            </a:r>
            <a:r>
              <a:rPr lang="en-US" sz="1600">
                <a:solidFill>
                  <a:schemeClr val="dk1"/>
                </a:solidFill>
                <a:latin typeface="Times"/>
                <a:ea typeface="Times"/>
                <a:cs typeface="Times"/>
                <a:sym typeface="Times"/>
              </a:rPr>
              <a:t> for complex multiplication.</a:t>
            </a:r>
            <a:endParaRPr sz="1600">
              <a:solidFill>
                <a:schemeClr val="dk1"/>
              </a:solidFill>
              <a:latin typeface="Times"/>
              <a:ea typeface="Times"/>
              <a:cs typeface="Times"/>
              <a:sym typeface="Times"/>
            </a:endParaRPr>
          </a:p>
          <a:p>
            <a:pPr indent="0" lvl="0" marL="0" rtl="0" algn="l">
              <a:lnSpc>
                <a:spcPct val="115000"/>
              </a:lnSpc>
              <a:spcBef>
                <a:spcPts val="1200"/>
              </a:spcBef>
              <a:spcAft>
                <a:spcPts val="0"/>
              </a:spcAft>
              <a:buNone/>
            </a:pPr>
            <a:r>
              <a:t/>
            </a:r>
            <a:endParaRPr sz="100">
              <a:solidFill>
                <a:schemeClr val="dk1"/>
              </a:solidFill>
              <a:latin typeface="Times"/>
              <a:ea typeface="Times"/>
              <a:cs typeface="Times"/>
              <a:sym typeface="Times"/>
            </a:endParaRPr>
          </a:p>
          <a:p>
            <a:pPr indent="0" lvl="0" marL="0" rtl="0" algn="l">
              <a:lnSpc>
                <a:spcPct val="115000"/>
              </a:lnSpc>
              <a:spcBef>
                <a:spcPts val="1200"/>
              </a:spcBef>
              <a:spcAft>
                <a:spcPts val="0"/>
              </a:spcAft>
              <a:buNone/>
            </a:pPr>
            <a:r>
              <a:rPr b="1" lang="en-US" sz="1800" u="sng">
                <a:solidFill>
                  <a:schemeClr val="dk1"/>
                </a:solidFill>
                <a:latin typeface="Times"/>
                <a:ea typeface="Times"/>
                <a:cs typeface="Times"/>
                <a:sym typeface="Times"/>
              </a:rPr>
              <a:t>Limitations in existing designs:</a:t>
            </a:r>
            <a:endParaRPr sz="1600">
              <a:solidFill>
                <a:schemeClr val="dk1"/>
              </a:solidFill>
              <a:latin typeface="Times"/>
              <a:ea typeface="Times"/>
              <a:cs typeface="Times"/>
              <a:sym typeface="Times"/>
            </a:endParaRPr>
          </a:p>
          <a:p>
            <a:pPr indent="-298450" lvl="0" marL="457200" rtl="0" algn="l">
              <a:lnSpc>
                <a:spcPct val="115000"/>
              </a:lnSpc>
              <a:spcBef>
                <a:spcPts val="1200"/>
              </a:spcBef>
              <a:spcAft>
                <a:spcPts val="0"/>
              </a:spcAft>
              <a:buClr>
                <a:schemeClr val="dk1"/>
              </a:buClr>
              <a:buSzPts val="1100"/>
              <a:buChar char="●"/>
            </a:pPr>
            <a:r>
              <a:rPr b="1" lang="en-US" sz="1600">
                <a:solidFill>
                  <a:srgbClr val="FF0000"/>
                </a:solidFill>
                <a:latin typeface="Times"/>
                <a:ea typeface="Times"/>
                <a:cs typeface="Times"/>
                <a:sym typeface="Times"/>
              </a:rPr>
              <a:t>Large area</a:t>
            </a:r>
            <a:r>
              <a:rPr lang="en-US" sz="1600">
                <a:solidFill>
                  <a:schemeClr val="dk1"/>
                </a:solidFill>
                <a:latin typeface="Times"/>
                <a:ea typeface="Times"/>
                <a:cs typeface="Times"/>
                <a:sym typeface="Times"/>
              </a:rPr>
              <a:t> because of multiple Booth encoders, multiple multipliers.</a:t>
            </a:r>
            <a:endParaRPr sz="1600">
              <a:solidFill>
                <a:schemeClr val="dk1"/>
              </a:solidFill>
              <a:latin typeface="Times"/>
              <a:ea typeface="Times"/>
              <a:cs typeface="Times"/>
              <a:sym typeface="Times"/>
            </a:endParaRPr>
          </a:p>
          <a:p>
            <a:pPr indent="-298450" lvl="0" marL="457200" rtl="0" algn="l">
              <a:lnSpc>
                <a:spcPct val="115000"/>
              </a:lnSpc>
              <a:spcBef>
                <a:spcPts val="0"/>
              </a:spcBef>
              <a:spcAft>
                <a:spcPts val="0"/>
              </a:spcAft>
              <a:buClr>
                <a:schemeClr val="dk1"/>
              </a:buClr>
              <a:buSzPts val="1100"/>
              <a:buChar char="●"/>
            </a:pPr>
            <a:r>
              <a:rPr b="1" lang="en-US" sz="1600">
                <a:solidFill>
                  <a:srgbClr val="FF0000"/>
                </a:solidFill>
                <a:latin typeface="Times"/>
                <a:ea typeface="Times"/>
                <a:cs typeface="Times"/>
                <a:sym typeface="Times"/>
              </a:rPr>
              <a:t>High delay</a:t>
            </a:r>
            <a:r>
              <a:rPr lang="en-US" sz="1600">
                <a:solidFill>
                  <a:schemeClr val="dk1"/>
                </a:solidFill>
                <a:latin typeface="Times"/>
                <a:ea typeface="Times"/>
                <a:cs typeface="Times"/>
                <a:sym typeface="Times"/>
              </a:rPr>
              <a:t> due to two-stage adder structure (Wallace → Vector Merging → Final Adder).</a:t>
            </a:r>
            <a:endParaRPr sz="1600">
              <a:solidFill>
                <a:schemeClr val="dk1"/>
              </a:solidFill>
              <a:latin typeface="Times"/>
              <a:ea typeface="Times"/>
              <a:cs typeface="Times"/>
              <a:sym typeface="Times"/>
            </a:endParaRPr>
          </a:p>
          <a:p>
            <a:pPr indent="-298450" lvl="0" marL="457200" rtl="0" algn="l">
              <a:lnSpc>
                <a:spcPct val="115000"/>
              </a:lnSpc>
              <a:spcBef>
                <a:spcPts val="0"/>
              </a:spcBef>
              <a:spcAft>
                <a:spcPts val="0"/>
              </a:spcAft>
              <a:buClr>
                <a:schemeClr val="dk1"/>
              </a:buClr>
              <a:buSzPts val="1100"/>
              <a:buChar char="●"/>
            </a:pPr>
            <a:r>
              <a:rPr lang="en-US" sz="1600">
                <a:solidFill>
                  <a:schemeClr val="dk1"/>
                </a:solidFill>
                <a:latin typeface="Times"/>
                <a:ea typeface="Times"/>
                <a:cs typeface="Times"/>
                <a:sym typeface="Times"/>
              </a:rPr>
              <a:t>Inefficient partial product handling.</a:t>
            </a:r>
            <a:endParaRPr sz="1600">
              <a:solidFill>
                <a:schemeClr val="dk1"/>
              </a:solidFill>
              <a:latin typeface="Times"/>
              <a:ea typeface="Times"/>
              <a:cs typeface="Times"/>
              <a:sym typeface="Times"/>
            </a:endParaRPr>
          </a:p>
          <a:p>
            <a:pPr indent="-298450" lvl="0" marL="457200" rtl="0" algn="l">
              <a:lnSpc>
                <a:spcPct val="115000"/>
              </a:lnSpc>
              <a:spcBef>
                <a:spcPts val="0"/>
              </a:spcBef>
              <a:spcAft>
                <a:spcPts val="0"/>
              </a:spcAft>
              <a:buClr>
                <a:schemeClr val="dk1"/>
              </a:buClr>
              <a:buSzPts val="1100"/>
              <a:buChar char="●"/>
            </a:pPr>
            <a:r>
              <a:rPr lang="en-US" sz="1600">
                <a:solidFill>
                  <a:schemeClr val="dk1"/>
                </a:solidFill>
                <a:latin typeface="Times"/>
                <a:ea typeface="Times"/>
                <a:cs typeface="Times"/>
                <a:sym typeface="Times"/>
              </a:rPr>
              <a:t>Designs </a:t>
            </a:r>
            <a:r>
              <a:rPr b="1" lang="en-US" sz="1600">
                <a:solidFill>
                  <a:srgbClr val="FF0000"/>
                </a:solidFill>
                <a:latin typeface="Times"/>
                <a:ea typeface="Times"/>
                <a:cs typeface="Times"/>
                <a:sym typeface="Times"/>
              </a:rPr>
              <a:t>do not scale well</a:t>
            </a:r>
            <a:r>
              <a:rPr lang="en-US" sz="1600">
                <a:solidFill>
                  <a:schemeClr val="dk1"/>
                </a:solidFill>
                <a:latin typeface="Times"/>
                <a:ea typeface="Times"/>
                <a:cs typeface="Times"/>
                <a:sym typeface="Times"/>
              </a:rPr>
              <a:t> for 16/32-bit word lengths.</a:t>
            </a:r>
            <a:br>
              <a:rPr lang="en-US" sz="1600">
                <a:solidFill>
                  <a:schemeClr val="dk1"/>
                </a:solidFill>
                <a:latin typeface="Times"/>
                <a:ea typeface="Times"/>
                <a:cs typeface="Times"/>
                <a:sym typeface="Times"/>
              </a:rPr>
            </a:br>
            <a:endParaRPr sz="1600">
              <a:solidFill>
                <a:schemeClr val="dk1"/>
              </a:solidFill>
              <a:latin typeface="Times"/>
              <a:ea typeface="Times"/>
              <a:cs typeface="Times"/>
              <a:sym typeface="Times"/>
            </a:endParaRPr>
          </a:p>
          <a:p>
            <a:pPr indent="0" lvl="0" marL="0" rtl="0" algn="l">
              <a:lnSpc>
                <a:spcPct val="115000"/>
              </a:lnSpc>
              <a:spcBef>
                <a:spcPts val="1200"/>
              </a:spcBef>
              <a:spcAft>
                <a:spcPts val="0"/>
              </a:spcAft>
              <a:buNone/>
            </a:pPr>
            <a:r>
              <a:rPr b="1" lang="en-US" sz="1800" u="sng">
                <a:solidFill>
                  <a:schemeClr val="dk1"/>
                </a:solidFill>
                <a:latin typeface="Times"/>
                <a:ea typeface="Times"/>
                <a:cs typeface="Times"/>
                <a:sym typeface="Times"/>
              </a:rPr>
              <a:t>Goal of the paper:</a:t>
            </a:r>
            <a:br>
              <a:rPr lang="en-US" sz="1600">
                <a:solidFill>
                  <a:schemeClr val="dk1"/>
                </a:solidFill>
                <a:latin typeface="Times"/>
                <a:ea typeface="Times"/>
                <a:cs typeface="Times"/>
                <a:sym typeface="Times"/>
              </a:rPr>
            </a:br>
            <a:r>
              <a:rPr lang="en-US" sz="1600">
                <a:solidFill>
                  <a:schemeClr val="dk1"/>
                </a:solidFill>
                <a:latin typeface="Times"/>
                <a:ea typeface="Times"/>
                <a:cs typeface="Times"/>
                <a:sym typeface="Times"/>
              </a:rPr>
              <a:t> To design a compact, high-speed, Booth-encoded, Distributed-Arithmetic-based complex multiplier for M=8, 16, 32 bits with:</a:t>
            </a:r>
            <a:endParaRPr sz="1600">
              <a:solidFill>
                <a:schemeClr val="dk1"/>
              </a:solidFill>
              <a:latin typeface="Times"/>
              <a:ea typeface="Times"/>
              <a:cs typeface="Times"/>
              <a:sym typeface="Times"/>
            </a:endParaRPr>
          </a:p>
          <a:p>
            <a:pPr indent="-298450" lvl="0" marL="457200" rtl="0" algn="l">
              <a:lnSpc>
                <a:spcPct val="115000"/>
              </a:lnSpc>
              <a:spcBef>
                <a:spcPts val="1200"/>
              </a:spcBef>
              <a:spcAft>
                <a:spcPts val="0"/>
              </a:spcAft>
              <a:buClr>
                <a:schemeClr val="dk1"/>
              </a:buClr>
              <a:buSzPts val="1100"/>
              <a:buChar char="●"/>
            </a:pPr>
            <a:r>
              <a:rPr lang="en-US" sz="1600">
                <a:solidFill>
                  <a:schemeClr val="dk1"/>
                </a:solidFill>
                <a:latin typeface="Times"/>
                <a:ea typeface="Times"/>
                <a:cs typeface="Times"/>
                <a:sym typeface="Times"/>
              </a:rPr>
              <a:t>Reduced partial products.</a:t>
            </a:r>
            <a:endParaRPr sz="1600">
              <a:solidFill>
                <a:schemeClr val="dk1"/>
              </a:solidFill>
              <a:latin typeface="Times"/>
              <a:ea typeface="Times"/>
              <a:cs typeface="Times"/>
              <a:sym typeface="Times"/>
            </a:endParaRPr>
          </a:p>
          <a:p>
            <a:pPr indent="-298450" lvl="0" marL="457200" rtl="0" algn="l">
              <a:lnSpc>
                <a:spcPct val="115000"/>
              </a:lnSpc>
              <a:spcBef>
                <a:spcPts val="0"/>
              </a:spcBef>
              <a:spcAft>
                <a:spcPts val="0"/>
              </a:spcAft>
              <a:buClr>
                <a:schemeClr val="dk1"/>
              </a:buClr>
              <a:buSzPts val="1100"/>
              <a:buChar char="●"/>
            </a:pPr>
            <a:r>
              <a:rPr lang="en-US" sz="1600">
                <a:solidFill>
                  <a:schemeClr val="dk1"/>
                </a:solidFill>
                <a:latin typeface="Times"/>
                <a:ea typeface="Times"/>
                <a:cs typeface="Times"/>
                <a:sym typeface="Times"/>
              </a:rPr>
              <a:t>Shared resources.</a:t>
            </a:r>
            <a:endParaRPr sz="1600">
              <a:solidFill>
                <a:schemeClr val="dk1"/>
              </a:solidFill>
              <a:latin typeface="Times"/>
              <a:ea typeface="Times"/>
              <a:cs typeface="Times"/>
              <a:sym typeface="Times"/>
            </a:endParaRPr>
          </a:p>
          <a:p>
            <a:pPr indent="-298450" lvl="0" marL="457200" rtl="0" algn="l">
              <a:lnSpc>
                <a:spcPct val="115000"/>
              </a:lnSpc>
              <a:spcBef>
                <a:spcPts val="0"/>
              </a:spcBef>
              <a:spcAft>
                <a:spcPts val="0"/>
              </a:spcAft>
              <a:buClr>
                <a:schemeClr val="dk1"/>
              </a:buClr>
              <a:buSzPts val="1100"/>
              <a:buChar char="●"/>
            </a:pPr>
            <a:r>
              <a:rPr lang="en-US" sz="1600">
                <a:solidFill>
                  <a:schemeClr val="dk1"/>
                </a:solidFill>
                <a:latin typeface="Times"/>
                <a:ea typeface="Times"/>
                <a:cs typeface="Times"/>
                <a:sym typeface="Times"/>
              </a:rPr>
              <a:t>No vector-merging adder.</a:t>
            </a:r>
            <a:endParaRPr sz="1600">
              <a:solidFill>
                <a:schemeClr val="dk1"/>
              </a:solidFill>
              <a:latin typeface="Times"/>
              <a:ea typeface="Times"/>
              <a:cs typeface="Times"/>
              <a:sym typeface="Times"/>
            </a:endParaRPr>
          </a:p>
          <a:p>
            <a:pPr indent="-298450" lvl="0" marL="457200" rtl="0" algn="l">
              <a:lnSpc>
                <a:spcPct val="115000"/>
              </a:lnSpc>
              <a:spcBef>
                <a:spcPts val="0"/>
              </a:spcBef>
              <a:spcAft>
                <a:spcPts val="0"/>
              </a:spcAft>
              <a:buClr>
                <a:schemeClr val="dk1"/>
              </a:buClr>
              <a:buSzPts val="1100"/>
              <a:buChar char="●"/>
            </a:pPr>
            <a:r>
              <a:rPr lang="en-US" sz="1600">
                <a:solidFill>
                  <a:schemeClr val="dk1"/>
                </a:solidFill>
                <a:latin typeface="Times"/>
                <a:ea typeface="Times"/>
                <a:cs typeface="Times"/>
                <a:sym typeface="Times"/>
              </a:rPr>
              <a:t>Lower area-delay product (ADP) and lower energy per computation (EPC).</a:t>
            </a:r>
            <a:endParaRPr sz="1100">
              <a:solidFill>
                <a:schemeClr val="dk1"/>
              </a:solidFill>
            </a:endParaRPr>
          </a:p>
          <a:p>
            <a:pPr indent="0" lvl="0" marL="0" rtl="0" algn="l">
              <a:spcBef>
                <a:spcPts val="1200"/>
              </a:spcBef>
              <a:spcAft>
                <a:spcPts val="0"/>
              </a:spcAft>
              <a:buNone/>
            </a:pPr>
            <a:r>
              <a:t/>
            </a:r>
            <a:endParaRPr sz="1600">
              <a:solidFill>
                <a:schemeClr val="dk1"/>
              </a:solidFill>
              <a:latin typeface="Times"/>
              <a:ea typeface="Times"/>
              <a:cs typeface="Times"/>
              <a:sym typeface="Time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0"/>
          <p:cNvSpPr txBox="1"/>
          <p:nvPr>
            <p:ph idx="1" type="body"/>
          </p:nvPr>
        </p:nvSpPr>
        <p:spPr>
          <a:xfrm>
            <a:off x="240874" y="1317275"/>
            <a:ext cx="7101000" cy="52233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100"/>
              <a:buFont typeface="Arial"/>
              <a:buNone/>
            </a:pPr>
            <a:r>
              <a:rPr b="1" lang="en-US" sz="2000" u="sng">
                <a:latin typeface="Times"/>
                <a:ea typeface="Times"/>
                <a:cs typeface="Times"/>
                <a:sym typeface="Times"/>
              </a:rPr>
              <a:t>Strategy</a:t>
            </a:r>
            <a:r>
              <a:rPr b="1" lang="en-US" sz="2000">
                <a:latin typeface="Times"/>
                <a:ea typeface="Times"/>
                <a:cs typeface="Times"/>
                <a:sym typeface="Times"/>
              </a:rPr>
              <a:t>: </a:t>
            </a:r>
            <a:r>
              <a:rPr lang="en-US" sz="2000">
                <a:latin typeface="Times"/>
                <a:ea typeface="Times"/>
                <a:cs typeface="Times"/>
                <a:sym typeface="Times"/>
              </a:rPr>
              <a:t>The architecture uses two parallel pipelines to compute the real (</a:t>
            </a:r>
            <a:r>
              <a:rPr i="1" lang="en-US" sz="2000">
                <a:latin typeface="Times"/>
                <a:ea typeface="Times"/>
                <a:cs typeface="Times"/>
                <a:sym typeface="Times"/>
              </a:rPr>
              <a:t>p</a:t>
            </a:r>
            <a:r>
              <a:rPr baseline="-25000" i="1" lang="en-US" sz="2000">
                <a:latin typeface="Times"/>
                <a:ea typeface="Times"/>
                <a:cs typeface="Times"/>
                <a:sym typeface="Times"/>
              </a:rPr>
              <a:t>r</a:t>
            </a:r>
            <a:r>
              <a:rPr lang="en-US" sz="2000">
                <a:latin typeface="Times"/>
                <a:ea typeface="Times"/>
                <a:cs typeface="Times"/>
                <a:sym typeface="Times"/>
              </a:rPr>
              <a:t>) and imaginary (</a:t>
            </a:r>
            <a:r>
              <a:rPr i="1" lang="en-US" sz="2000">
                <a:latin typeface="Times"/>
                <a:ea typeface="Times"/>
                <a:cs typeface="Times"/>
                <a:sym typeface="Times"/>
              </a:rPr>
              <a:t>p</a:t>
            </a:r>
            <a:r>
              <a:rPr baseline="-25000" i="1" lang="en-US" sz="2000">
                <a:latin typeface="Times"/>
                <a:ea typeface="Times"/>
                <a:cs typeface="Times"/>
                <a:sym typeface="Times"/>
              </a:rPr>
              <a:t>i</a:t>
            </a:r>
            <a:r>
              <a:rPr lang="en-US" sz="2000">
                <a:latin typeface="Times"/>
                <a:ea typeface="Times"/>
                <a:cs typeface="Times"/>
                <a:sym typeface="Times"/>
              </a:rPr>
              <a:t>) parts at the same time.</a:t>
            </a:r>
            <a:endParaRPr sz="2000">
              <a:latin typeface="Times"/>
              <a:ea typeface="Times"/>
              <a:cs typeface="Times"/>
              <a:sym typeface="Times"/>
            </a:endParaRPr>
          </a:p>
          <a:p>
            <a:pPr indent="0" lvl="0" marL="0" rtl="0" algn="l">
              <a:lnSpc>
                <a:spcPct val="100000"/>
              </a:lnSpc>
              <a:spcBef>
                <a:spcPts val="1000"/>
              </a:spcBef>
              <a:spcAft>
                <a:spcPts val="0"/>
              </a:spcAft>
              <a:buClr>
                <a:schemeClr val="dk1"/>
              </a:buClr>
              <a:buSzPts val="1100"/>
              <a:buFont typeface="Arial"/>
              <a:buNone/>
            </a:pPr>
            <a:r>
              <a:t/>
            </a:r>
            <a:endParaRPr sz="2000">
              <a:latin typeface="Times"/>
              <a:ea typeface="Times"/>
              <a:cs typeface="Times"/>
              <a:sym typeface="Times"/>
            </a:endParaRPr>
          </a:p>
          <a:p>
            <a:pPr indent="0" lvl="0" marL="0" rtl="0" algn="l">
              <a:lnSpc>
                <a:spcPct val="100000"/>
              </a:lnSpc>
              <a:spcBef>
                <a:spcPts val="1000"/>
              </a:spcBef>
              <a:spcAft>
                <a:spcPts val="0"/>
              </a:spcAft>
              <a:buClr>
                <a:schemeClr val="dk1"/>
              </a:buClr>
              <a:buSzPts val="1100"/>
              <a:buFont typeface="Arial"/>
              <a:buNone/>
            </a:pPr>
            <a:r>
              <a:t/>
            </a:r>
            <a:endParaRPr sz="2000">
              <a:latin typeface="Times"/>
              <a:ea typeface="Times"/>
              <a:cs typeface="Times"/>
              <a:sym typeface="Times"/>
            </a:endParaRPr>
          </a:p>
          <a:p>
            <a:pPr indent="0" lvl="0" marL="0" rtl="0" algn="l">
              <a:lnSpc>
                <a:spcPct val="100000"/>
              </a:lnSpc>
              <a:spcBef>
                <a:spcPts val="1000"/>
              </a:spcBef>
              <a:spcAft>
                <a:spcPts val="0"/>
              </a:spcAft>
              <a:buClr>
                <a:schemeClr val="dk1"/>
              </a:buClr>
              <a:buSzPts val="1100"/>
              <a:buFont typeface="Arial"/>
              <a:buNone/>
            </a:pPr>
            <a:r>
              <a:rPr b="1" lang="en-US" sz="2000" u="sng">
                <a:latin typeface="Times"/>
                <a:ea typeface="Times"/>
                <a:cs typeface="Times"/>
                <a:sym typeface="Times"/>
              </a:rPr>
              <a:t>Key Hardware Blocks</a:t>
            </a:r>
            <a:r>
              <a:rPr b="1" lang="en-US" sz="2000">
                <a:latin typeface="Times"/>
                <a:ea typeface="Times"/>
                <a:cs typeface="Times"/>
                <a:sym typeface="Times"/>
              </a:rPr>
              <a:t>:</a:t>
            </a:r>
            <a:endParaRPr b="1" sz="2000">
              <a:latin typeface="Times"/>
              <a:ea typeface="Times"/>
              <a:cs typeface="Times"/>
              <a:sym typeface="Times"/>
            </a:endParaRPr>
          </a:p>
          <a:p>
            <a:pPr indent="-355600" lvl="0" marL="457200" rtl="0" algn="l">
              <a:lnSpc>
                <a:spcPct val="100000"/>
              </a:lnSpc>
              <a:spcBef>
                <a:spcPts val="1000"/>
              </a:spcBef>
              <a:spcAft>
                <a:spcPts val="0"/>
              </a:spcAft>
              <a:buClr>
                <a:schemeClr val="dk1"/>
              </a:buClr>
              <a:buSzPts val="2000"/>
              <a:buFont typeface="Questrial"/>
              <a:buChar char="●"/>
            </a:pPr>
            <a:r>
              <a:rPr b="1" lang="en-US" sz="2000">
                <a:latin typeface="Times"/>
                <a:ea typeface="Times"/>
                <a:cs typeface="Times"/>
                <a:sym typeface="Times"/>
              </a:rPr>
              <a:t>Booth Encoders:</a:t>
            </a:r>
            <a:r>
              <a:rPr lang="en-US" sz="2000">
                <a:latin typeface="Times"/>
                <a:ea typeface="Times"/>
                <a:cs typeface="Times"/>
                <a:sym typeface="Times"/>
              </a:rPr>
              <a:t> Cut the number of partial products in half and save significant chip area.</a:t>
            </a:r>
            <a:endParaRPr sz="2000">
              <a:latin typeface="Times"/>
              <a:ea typeface="Times"/>
              <a:cs typeface="Times"/>
              <a:sym typeface="Times"/>
            </a:endParaRPr>
          </a:p>
          <a:p>
            <a:pPr indent="-355600" lvl="0" marL="457200" rtl="0" algn="l">
              <a:lnSpc>
                <a:spcPct val="100000"/>
              </a:lnSpc>
              <a:spcBef>
                <a:spcPts val="0"/>
              </a:spcBef>
              <a:spcAft>
                <a:spcPts val="0"/>
              </a:spcAft>
              <a:buClr>
                <a:schemeClr val="dk1"/>
              </a:buClr>
              <a:buSzPts val="2000"/>
              <a:buFont typeface="Questrial"/>
              <a:buChar char="●"/>
            </a:pPr>
            <a:r>
              <a:rPr b="1" lang="en-US" sz="2000">
                <a:latin typeface="Times"/>
                <a:ea typeface="Times"/>
                <a:cs typeface="Times"/>
                <a:sym typeface="Times"/>
              </a:rPr>
              <a:t>(N)PPGs:</a:t>
            </a:r>
            <a:r>
              <a:rPr lang="en-US" sz="2000">
                <a:latin typeface="Times"/>
                <a:ea typeface="Times"/>
                <a:cs typeface="Times"/>
                <a:sym typeface="Times"/>
              </a:rPr>
              <a:t> Generate the actual partial product rows.</a:t>
            </a:r>
            <a:endParaRPr sz="2000">
              <a:latin typeface="Times"/>
              <a:ea typeface="Times"/>
              <a:cs typeface="Times"/>
              <a:sym typeface="Times"/>
            </a:endParaRPr>
          </a:p>
          <a:p>
            <a:pPr indent="-355600" lvl="0" marL="457200" rtl="0" algn="l">
              <a:lnSpc>
                <a:spcPct val="100000"/>
              </a:lnSpc>
              <a:spcBef>
                <a:spcPts val="0"/>
              </a:spcBef>
              <a:spcAft>
                <a:spcPts val="0"/>
              </a:spcAft>
              <a:buClr>
                <a:schemeClr val="dk1"/>
              </a:buClr>
              <a:buSzPts val="2000"/>
              <a:buFont typeface="Questrial"/>
              <a:buChar char="●"/>
            </a:pPr>
            <a:r>
              <a:rPr b="1" lang="en-US" sz="2000">
                <a:latin typeface="Times"/>
                <a:ea typeface="Times"/>
                <a:cs typeface="Times"/>
                <a:sym typeface="Times"/>
              </a:rPr>
              <a:t>Carry-Save Adder Trees (CSAT):</a:t>
            </a:r>
            <a:r>
              <a:rPr lang="en-US" sz="2000">
                <a:latin typeface="Times"/>
                <a:ea typeface="Times"/>
                <a:cs typeface="Times"/>
                <a:sym typeface="Times"/>
              </a:rPr>
              <a:t> This is the core of the speed-up. It combines all partial products and reduces them to just two words in one fast, parallel step.</a:t>
            </a:r>
            <a:endParaRPr sz="2000">
              <a:latin typeface="Times"/>
              <a:ea typeface="Times"/>
              <a:cs typeface="Times"/>
              <a:sym typeface="Times"/>
            </a:endParaRPr>
          </a:p>
          <a:p>
            <a:pPr indent="-355600" lvl="0" marL="457200" rtl="0" algn="l">
              <a:lnSpc>
                <a:spcPct val="100000"/>
              </a:lnSpc>
              <a:spcBef>
                <a:spcPts val="0"/>
              </a:spcBef>
              <a:spcAft>
                <a:spcPts val="0"/>
              </a:spcAft>
              <a:buClr>
                <a:schemeClr val="dk1"/>
              </a:buClr>
              <a:buSzPts val="2000"/>
              <a:buFont typeface="Questrial"/>
              <a:buChar char="●"/>
            </a:pPr>
            <a:r>
              <a:rPr b="1" lang="en-US" sz="2000">
                <a:latin typeface="Times"/>
                <a:ea typeface="Times"/>
                <a:cs typeface="Times"/>
                <a:sym typeface="Times"/>
              </a:rPr>
              <a:t>Kogge-Stone Adders (KSA):</a:t>
            </a:r>
            <a:r>
              <a:rPr lang="en-US" sz="2000">
                <a:latin typeface="Times"/>
                <a:ea typeface="Times"/>
                <a:cs typeface="Times"/>
                <a:sym typeface="Times"/>
              </a:rPr>
              <a:t> Perform the final high-speed addition.</a:t>
            </a:r>
            <a:endParaRPr sz="2000">
              <a:latin typeface="Times"/>
              <a:ea typeface="Times"/>
              <a:cs typeface="Times"/>
              <a:sym typeface="Times"/>
            </a:endParaRPr>
          </a:p>
          <a:p>
            <a:pPr indent="-76200" lvl="0" marL="228600" rtl="0" algn="l">
              <a:lnSpc>
                <a:spcPct val="90000"/>
              </a:lnSpc>
              <a:spcBef>
                <a:spcPts val="1000"/>
              </a:spcBef>
              <a:spcAft>
                <a:spcPts val="0"/>
              </a:spcAft>
              <a:buClr>
                <a:schemeClr val="dk1"/>
              </a:buClr>
              <a:buSzPts val="2400"/>
              <a:buNone/>
            </a:pPr>
            <a:r>
              <a:t/>
            </a:r>
            <a:endParaRPr/>
          </a:p>
        </p:txBody>
      </p:sp>
      <p:sp>
        <p:nvSpPr>
          <p:cNvPr id="138" name="Google Shape;138;p20"/>
          <p:cNvSpPr txBox="1"/>
          <p:nvPr>
            <p:ph type="title"/>
          </p:nvPr>
        </p:nvSpPr>
        <p:spPr>
          <a:xfrm>
            <a:off x="240872" y="202991"/>
            <a:ext cx="9389440" cy="55458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alibri"/>
              <a:buNone/>
            </a:pPr>
            <a:r>
              <a:rPr lang="en-US"/>
              <a:t>Block Diagram </a:t>
            </a:r>
            <a:endParaRPr/>
          </a:p>
        </p:txBody>
      </p:sp>
      <p:pic>
        <p:nvPicPr>
          <p:cNvPr id="139" name="Google Shape;139;p20"/>
          <p:cNvPicPr preferRelativeResize="0"/>
          <p:nvPr/>
        </p:nvPicPr>
        <p:blipFill>
          <a:blip r:embed="rId3">
            <a:alphaModFix/>
          </a:blip>
          <a:stretch>
            <a:fillRect/>
          </a:stretch>
        </p:blipFill>
        <p:spPr>
          <a:xfrm>
            <a:off x="7418750" y="1917350"/>
            <a:ext cx="4355350" cy="3141425"/>
          </a:xfrm>
          <a:prstGeom prst="rect">
            <a:avLst/>
          </a:prstGeom>
          <a:noFill/>
          <a:ln>
            <a:noFill/>
          </a:ln>
        </p:spPr>
      </p:pic>
      <p:grpSp>
        <p:nvGrpSpPr>
          <p:cNvPr id="140" name="Google Shape;140;p20"/>
          <p:cNvGrpSpPr/>
          <p:nvPr/>
        </p:nvGrpSpPr>
        <p:grpSpPr>
          <a:xfrm>
            <a:off x="646000" y="2043771"/>
            <a:ext cx="5977610" cy="476017"/>
            <a:chOff x="1488290" y="1447181"/>
            <a:chExt cx="6269124" cy="476017"/>
          </a:xfrm>
        </p:grpSpPr>
        <p:grpSp>
          <p:nvGrpSpPr>
            <p:cNvPr id="141" name="Google Shape;141;p20"/>
            <p:cNvGrpSpPr/>
            <p:nvPr/>
          </p:nvGrpSpPr>
          <p:grpSpPr>
            <a:xfrm>
              <a:off x="1488290" y="1447181"/>
              <a:ext cx="2300262" cy="476017"/>
              <a:chOff x="1488290" y="1447181"/>
              <a:chExt cx="2300262" cy="476017"/>
            </a:xfrm>
          </p:grpSpPr>
          <p:pic>
            <p:nvPicPr>
              <p:cNvPr id="142" name="Google Shape;142;p20"/>
              <p:cNvPicPr preferRelativeResize="0"/>
              <p:nvPr/>
            </p:nvPicPr>
            <p:blipFill rotWithShape="1">
              <a:blip r:embed="rId4">
                <a:alphaModFix/>
              </a:blip>
              <a:srcRect b="55863" l="5222" r="10410" t="4904"/>
              <a:stretch/>
            </p:blipFill>
            <p:spPr>
              <a:xfrm>
                <a:off x="2486665" y="1595897"/>
                <a:ext cx="1301888" cy="327300"/>
              </a:xfrm>
              <a:prstGeom prst="rect">
                <a:avLst/>
              </a:prstGeom>
              <a:noFill/>
              <a:ln>
                <a:noFill/>
              </a:ln>
            </p:spPr>
          </p:pic>
          <p:sp>
            <p:nvSpPr>
              <p:cNvPr id="143" name="Google Shape;143;p20"/>
              <p:cNvSpPr txBox="1"/>
              <p:nvPr/>
            </p:nvSpPr>
            <p:spPr>
              <a:xfrm>
                <a:off x="1488290" y="1447181"/>
                <a:ext cx="1696500" cy="327300"/>
              </a:xfrm>
              <a:prstGeom prst="rect">
                <a:avLst/>
              </a:prstGeom>
              <a:noFill/>
              <a:ln>
                <a:noFill/>
              </a:ln>
            </p:spPr>
            <p:txBody>
              <a:bodyPr anchorCtr="0" anchor="t" bIns="132600" lIns="132600" spcFirstLastPara="1" rIns="132600" wrap="square" tIns="132600">
                <a:noAutofit/>
              </a:bodyPr>
              <a:lstStyle/>
              <a:p>
                <a:pPr indent="0" lvl="0" marL="0" rtl="0" algn="l">
                  <a:spcBef>
                    <a:spcPts val="0"/>
                  </a:spcBef>
                  <a:spcAft>
                    <a:spcPts val="0"/>
                  </a:spcAft>
                  <a:buNone/>
                </a:pPr>
                <a:r>
                  <a:rPr lang="en-US" sz="1630">
                    <a:solidFill>
                      <a:schemeClr val="dk1"/>
                    </a:solidFill>
                    <a:latin typeface="Times"/>
                    <a:ea typeface="Times"/>
                    <a:cs typeface="Times"/>
                    <a:sym typeface="Times"/>
                  </a:rPr>
                  <a:t>Real part:</a:t>
                </a:r>
                <a:endParaRPr sz="1630">
                  <a:solidFill>
                    <a:schemeClr val="dk1"/>
                  </a:solidFill>
                  <a:latin typeface="Times"/>
                  <a:ea typeface="Times"/>
                  <a:cs typeface="Times"/>
                  <a:sym typeface="Times"/>
                </a:endParaRPr>
              </a:p>
            </p:txBody>
          </p:sp>
        </p:grpSp>
        <p:grpSp>
          <p:nvGrpSpPr>
            <p:cNvPr id="144" name="Google Shape;144;p20"/>
            <p:cNvGrpSpPr/>
            <p:nvPr/>
          </p:nvGrpSpPr>
          <p:grpSpPr>
            <a:xfrm>
              <a:off x="4737061" y="1447196"/>
              <a:ext cx="3020353" cy="463054"/>
              <a:chOff x="5003211" y="1391721"/>
              <a:chExt cx="3020353" cy="463054"/>
            </a:xfrm>
          </p:grpSpPr>
          <p:pic>
            <p:nvPicPr>
              <p:cNvPr id="145" name="Google Shape;145;p20"/>
              <p:cNvPicPr preferRelativeResize="0"/>
              <p:nvPr/>
            </p:nvPicPr>
            <p:blipFill rotWithShape="1">
              <a:blip r:embed="rId4">
                <a:alphaModFix/>
              </a:blip>
              <a:srcRect b="0" l="7114" r="0" t="51195"/>
              <a:stretch/>
            </p:blipFill>
            <p:spPr>
              <a:xfrm>
                <a:off x="6508689" y="1445600"/>
                <a:ext cx="1514875" cy="409175"/>
              </a:xfrm>
              <a:prstGeom prst="rect">
                <a:avLst/>
              </a:prstGeom>
              <a:noFill/>
              <a:ln>
                <a:noFill/>
              </a:ln>
            </p:spPr>
          </p:pic>
          <p:sp>
            <p:nvSpPr>
              <p:cNvPr id="146" name="Google Shape;146;p20"/>
              <p:cNvSpPr txBox="1"/>
              <p:nvPr/>
            </p:nvSpPr>
            <p:spPr>
              <a:xfrm>
                <a:off x="5003211" y="1391721"/>
                <a:ext cx="2023800" cy="327300"/>
              </a:xfrm>
              <a:prstGeom prst="rect">
                <a:avLst/>
              </a:prstGeom>
              <a:noFill/>
              <a:ln>
                <a:noFill/>
              </a:ln>
            </p:spPr>
            <p:txBody>
              <a:bodyPr anchorCtr="0" anchor="t" bIns="132600" lIns="132600" spcFirstLastPara="1" rIns="132600" wrap="square" tIns="132600">
                <a:noAutofit/>
              </a:bodyPr>
              <a:lstStyle/>
              <a:p>
                <a:pPr indent="0" lvl="0" marL="0" rtl="0" algn="l">
                  <a:spcBef>
                    <a:spcPts val="0"/>
                  </a:spcBef>
                  <a:spcAft>
                    <a:spcPts val="0"/>
                  </a:spcAft>
                  <a:buNone/>
                </a:pPr>
                <a:r>
                  <a:rPr lang="en-US" sz="1630">
                    <a:solidFill>
                      <a:schemeClr val="dk1"/>
                    </a:solidFill>
                    <a:latin typeface="Times"/>
                    <a:ea typeface="Times"/>
                    <a:cs typeface="Times"/>
                    <a:sym typeface="Times"/>
                  </a:rPr>
                  <a:t>Imaginary part:</a:t>
                </a:r>
                <a:endParaRPr sz="1630">
                  <a:solidFill>
                    <a:schemeClr val="dk1"/>
                  </a:solidFill>
                  <a:latin typeface="Times"/>
                  <a:ea typeface="Times"/>
                  <a:cs typeface="Times"/>
                  <a:sym typeface="Times"/>
                </a:endParaRPr>
              </a:p>
            </p:txBody>
          </p:sp>
        </p:gr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1"/>
          <p:cNvSpPr txBox="1"/>
          <p:nvPr>
            <p:ph type="title"/>
          </p:nvPr>
        </p:nvSpPr>
        <p:spPr>
          <a:xfrm>
            <a:off x="240872" y="202991"/>
            <a:ext cx="9389440" cy="55458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alibri"/>
              <a:buNone/>
            </a:pPr>
            <a:r>
              <a:rPr lang="en-US"/>
              <a:t>Design Procedure</a:t>
            </a:r>
            <a:endParaRPr/>
          </a:p>
        </p:txBody>
      </p:sp>
      <p:sp>
        <p:nvSpPr>
          <p:cNvPr id="152" name="Google Shape;152;p21"/>
          <p:cNvSpPr txBox="1"/>
          <p:nvPr/>
        </p:nvSpPr>
        <p:spPr>
          <a:xfrm>
            <a:off x="811350" y="3159315"/>
            <a:ext cx="10569300" cy="4743600"/>
          </a:xfrm>
          <a:prstGeom prst="rect">
            <a:avLst/>
          </a:prstGeom>
          <a:noFill/>
          <a:ln>
            <a:noFill/>
          </a:ln>
        </p:spPr>
        <p:txBody>
          <a:bodyPr anchorCtr="0" anchor="t" bIns="132600" lIns="132600" spcFirstLastPara="1" rIns="132600" wrap="square" tIns="132600">
            <a:noAutofit/>
          </a:bodyPr>
          <a:lstStyle/>
          <a:p>
            <a:pPr indent="0" lvl="0" marL="0" rtl="0" algn="l">
              <a:spcBef>
                <a:spcPts val="0"/>
              </a:spcBef>
              <a:spcAft>
                <a:spcPts val="0"/>
              </a:spcAft>
              <a:buNone/>
            </a:pPr>
            <a:r>
              <a:rPr lang="en-US" sz="2030">
                <a:solidFill>
                  <a:schemeClr val="dk1"/>
                </a:solidFill>
                <a:latin typeface="Times"/>
                <a:ea typeface="Times"/>
                <a:cs typeface="Times"/>
                <a:sym typeface="Times"/>
              </a:rPr>
              <a:t>This paper introduces a new architecture built on two clever hardware optimization techniques:</a:t>
            </a:r>
            <a:endParaRPr sz="2030">
              <a:solidFill>
                <a:schemeClr val="dk1"/>
              </a:solidFill>
              <a:latin typeface="Times"/>
              <a:ea typeface="Times"/>
              <a:cs typeface="Times"/>
              <a:sym typeface="Times"/>
            </a:endParaRPr>
          </a:p>
          <a:p>
            <a:pPr indent="0" lvl="0" marL="0" rtl="0" algn="l">
              <a:spcBef>
                <a:spcPts val="1450"/>
              </a:spcBef>
              <a:spcAft>
                <a:spcPts val="0"/>
              </a:spcAft>
              <a:buNone/>
            </a:pPr>
            <a:r>
              <a:t/>
            </a:r>
            <a:endParaRPr sz="145">
              <a:solidFill>
                <a:schemeClr val="dk1"/>
              </a:solidFill>
              <a:latin typeface="Times"/>
              <a:ea typeface="Times"/>
              <a:cs typeface="Times"/>
              <a:sym typeface="Times"/>
            </a:endParaRPr>
          </a:p>
          <a:p>
            <a:pPr indent="-460491" lvl="0" marL="663108" rtl="0" algn="l">
              <a:spcBef>
                <a:spcPts val="0"/>
              </a:spcBef>
              <a:spcAft>
                <a:spcPts val="0"/>
              </a:spcAft>
              <a:buClr>
                <a:schemeClr val="dk1"/>
              </a:buClr>
              <a:buSzPts val="2031"/>
              <a:buFont typeface="Questrial"/>
              <a:buChar char="●"/>
            </a:pPr>
            <a:r>
              <a:rPr b="1" lang="en-US" sz="2030" u="sng">
                <a:solidFill>
                  <a:schemeClr val="dk1"/>
                </a:solidFill>
                <a:latin typeface="Times"/>
                <a:ea typeface="Times"/>
                <a:cs typeface="Times"/>
                <a:sym typeface="Times"/>
              </a:rPr>
              <a:t>Radix-4 Modified Booth Encoding (MBE)</a:t>
            </a:r>
            <a:r>
              <a:rPr lang="en-US" sz="2030">
                <a:solidFill>
                  <a:schemeClr val="dk1"/>
                </a:solidFill>
                <a:latin typeface="Times"/>
                <a:ea typeface="Times"/>
                <a:cs typeface="Times"/>
                <a:sym typeface="Times"/>
              </a:rPr>
              <a:t>: A powerful algorithm to cut the number of partial product rows in half, immediately reducing the amount of work to be done.</a:t>
            </a:r>
            <a:endParaRPr sz="2030">
              <a:solidFill>
                <a:schemeClr val="dk1"/>
              </a:solidFill>
              <a:latin typeface="Times"/>
              <a:ea typeface="Times"/>
              <a:cs typeface="Times"/>
              <a:sym typeface="Times"/>
            </a:endParaRPr>
          </a:p>
          <a:p>
            <a:pPr indent="-460491" lvl="0" marL="663108" rtl="0" algn="l">
              <a:spcBef>
                <a:spcPts val="0"/>
              </a:spcBef>
              <a:spcAft>
                <a:spcPts val="0"/>
              </a:spcAft>
              <a:buClr>
                <a:schemeClr val="dk1"/>
              </a:buClr>
              <a:buSzPts val="2031"/>
              <a:buFont typeface="Questrial"/>
              <a:buChar char="●"/>
            </a:pPr>
            <a:r>
              <a:rPr b="1" lang="en-US" sz="2030" u="sng">
                <a:solidFill>
                  <a:schemeClr val="dk1"/>
                </a:solidFill>
                <a:latin typeface="Times"/>
                <a:ea typeface="Times"/>
                <a:cs typeface="Times"/>
                <a:sym typeface="Times"/>
              </a:rPr>
              <a:t>Distributed Arithmetic (DA) with a Carry-Save Adder Tree</a:t>
            </a:r>
            <a:r>
              <a:rPr lang="en-US" sz="2030">
                <a:solidFill>
                  <a:schemeClr val="dk1"/>
                </a:solidFill>
                <a:latin typeface="Times"/>
                <a:ea typeface="Times"/>
                <a:cs typeface="Times"/>
                <a:sym typeface="Times"/>
              </a:rPr>
              <a:t>: </a:t>
            </a:r>
            <a:r>
              <a:rPr lang="en-US" sz="2030">
                <a:solidFill>
                  <a:schemeClr val="dk1"/>
                </a:solidFill>
                <a:latin typeface="Times"/>
                <a:ea typeface="Times"/>
                <a:cs typeface="Times"/>
                <a:sym typeface="Times"/>
              </a:rPr>
              <a:t>A structural change to eliminate the slow "two-stage adder" by combining all calculations into a single, highly efficient addition process.</a:t>
            </a:r>
            <a:endParaRPr sz="2030">
              <a:solidFill>
                <a:schemeClr val="dk1"/>
              </a:solidFill>
              <a:latin typeface="Times"/>
              <a:ea typeface="Times"/>
              <a:cs typeface="Times"/>
              <a:sym typeface="Times"/>
            </a:endParaRPr>
          </a:p>
          <a:p>
            <a:pPr indent="0" lvl="0" marL="0" rtl="0" algn="l">
              <a:spcBef>
                <a:spcPts val="1450"/>
              </a:spcBef>
              <a:spcAft>
                <a:spcPts val="0"/>
              </a:spcAft>
              <a:buNone/>
            </a:pPr>
            <a:r>
              <a:t/>
            </a:r>
            <a:endParaRPr sz="870">
              <a:solidFill>
                <a:schemeClr val="dk1"/>
              </a:solidFill>
              <a:latin typeface="Times"/>
              <a:ea typeface="Times"/>
              <a:cs typeface="Times"/>
              <a:sym typeface="Times"/>
            </a:endParaRPr>
          </a:p>
          <a:p>
            <a:pPr indent="0" lvl="0" marL="0" rtl="0" algn="l">
              <a:spcBef>
                <a:spcPts val="0"/>
              </a:spcBef>
              <a:spcAft>
                <a:spcPts val="1450"/>
              </a:spcAft>
              <a:buNone/>
            </a:pPr>
            <a:r>
              <a:rPr lang="en-US" sz="2030">
                <a:solidFill>
                  <a:schemeClr val="dk1"/>
                </a:solidFill>
                <a:latin typeface="Times"/>
                <a:ea typeface="Times"/>
                <a:cs typeface="Times"/>
                <a:sym typeface="Times"/>
              </a:rPr>
              <a:t>Now, we will discuss these techniques in detail.</a:t>
            </a:r>
            <a:endParaRPr sz="2030">
              <a:solidFill>
                <a:schemeClr val="dk1"/>
              </a:solidFill>
              <a:latin typeface="Times"/>
              <a:ea typeface="Times"/>
              <a:cs typeface="Times"/>
              <a:sym typeface="Times"/>
            </a:endParaRPr>
          </a:p>
        </p:txBody>
      </p:sp>
      <p:pic>
        <p:nvPicPr>
          <p:cNvPr id="153" name="Google Shape;153;p21"/>
          <p:cNvPicPr preferRelativeResize="0"/>
          <p:nvPr/>
        </p:nvPicPr>
        <p:blipFill>
          <a:blip r:embed="rId3">
            <a:alphaModFix/>
          </a:blip>
          <a:stretch>
            <a:fillRect/>
          </a:stretch>
        </p:blipFill>
        <p:spPr>
          <a:xfrm>
            <a:off x="4618041" y="2253665"/>
            <a:ext cx="2370048" cy="844260"/>
          </a:xfrm>
          <a:prstGeom prst="rect">
            <a:avLst/>
          </a:prstGeom>
          <a:noFill/>
          <a:ln>
            <a:noFill/>
          </a:ln>
        </p:spPr>
      </p:pic>
      <p:grpSp>
        <p:nvGrpSpPr>
          <p:cNvPr id="154" name="Google Shape;154;p21"/>
          <p:cNvGrpSpPr/>
          <p:nvPr/>
        </p:nvGrpSpPr>
        <p:grpSpPr>
          <a:xfrm>
            <a:off x="1600778" y="1409160"/>
            <a:ext cx="8990435" cy="599353"/>
            <a:chOff x="1488290" y="1447181"/>
            <a:chExt cx="7488285" cy="476017"/>
          </a:xfrm>
        </p:grpSpPr>
        <p:grpSp>
          <p:nvGrpSpPr>
            <p:cNvPr id="155" name="Google Shape;155;p21"/>
            <p:cNvGrpSpPr/>
            <p:nvPr/>
          </p:nvGrpSpPr>
          <p:grpSpPr>
            <a:xfrm>
              <a:off x="1488290" y="1447181"/>
              <a:ext cx="2300262" cy="476017"/>
              <a:chOff x="1488290" y="1447181"/>
              <a:chExt cx="2300262" cy="476017"/>
            </a:xfrm>
          </p:grpSpPr>
          <p:pic>
            <p:nvPicPr>
              <p:cNvPr id="156" name="Google Shape;156;p21"/>
              <p:cNvPicPr preferRelativeResize="0"/>
              <p:nvPr/>
            </p:nvPicPr>
            <p:blipFill rotWithShape="1">
              <a:blip r:embed="rId4">
                <a:alphaModFix/>
              </a:blip>
              <a:srcRect b="55863" l="5222" r="10410" t="4904"/>
              <a:stretch/>
            </p:blipFill>
            <p:spPr>
              <a:xfrm>
                <a:off x="2486665" y="1595897"/>
                <a:ext cx="1301888" cy="327300"/>
              </a:xfrm>
              <a:prstGeom prst="rect">
                <a:avLst/>
              </a:prstGeom>
              <a:noFill/>
              <a:ln>
                <a:noFill/>
              </a:ln>
            </p:spPr>
          </p:pic>
          <p:sp>
            <p:nvSpPr>
              <p:cNvPr id="157" name="Google Shape;157;p21"/>
              <p:cNvSpPr txBox="1"/>
              <p:nvPr/>
            </p:nvSpPr>
            <p:spPr>
              <a:xfrm>
                <a:off x="1488290" y="1447181"/>
                <a:ext cx="1696500" cy="327300"/>
              </a:xfrm>
              <a:prstGeom prst="rect">
                <a:avLst/>
              </a:prstGeom>
              <a:noFill/>
              <a:ln>
                <a:noFill/>
              </a:ln>
            </p:spPr>
            <p:txBody>
              <a:bodyPr anchorCtr="0" anchor="t" bIns="166950" lIns="166950" spcFirstLastPara="1" rIns="166950" wrap="square" tIns="166950">
                <a:noAutofit/>
              </a:bodyPr>
              <a:lstStyle/>
              <a:p>
                <a:pPr indent="0" lvl="0" marL="0" rtl="0" algn="l">
                  <a:spcBef>
                    <a:spcPts val="0"/>
                  </a:spcBef>
                  <a:spcAft>
                    <a:spcPts val="0"/>
                  </a:spcAft>
                  <a:buNone/>
                </a:pPr>
                <a:r>
                  <a:rPr lang="en-US" sz="2052">
                    <a:solidFill>
                      <a:schemeClr val="dk1"/>
                    </a:solidFill>
                    <a:latin typeface="Times"/>
                    <a:ea typeface="Times"/>
                    <a:cs typeface="Times"/>
                    <a:sym typeface="Times"/>
                  </a:rPr>
                  <a:t>Real part:</a:t>
                </a:r>
                <a:endParaRPr sz="2052">
                  <a:solidFill>
                    <a:schemeClr val="dk1"/>
                  </a:solidFill>
                  <a:latin typeface="Times"/>
                  <a:ea typeface="Times"/>
                  <a:cs typeface="Times"/>
                  <a:sym typeface="Times"/>
                </a:endParaRPr>
              </a:p>
            </p:txBody>
          </p:sp>
        </p:grpSp>
        <p:grpSp>
          <p:nvGrpSpPr>
            <p:cNvPr id="158" name="Google Shape;158;p21"/>
            <p:cNvGrpSpPr/>
            <p:nvPr/>
          </p:nvGrpSpPr>
          <p:grpSpPr>
            <a:xfrm>
              <a:off x="5939169" y="1447186"/>
              <a:ext cx="3037407" cy="476009"/>
              <a:chOff x="6205319" y="1391711"/>
              <a:chExt cx="3037407" cy="476009"/>
            </a:xfrm>
          </p:grpSpPr>
          <p:pic>
            <p:nvPicPr>
              <p:cNvPr id="159" name="Google Shape;159;p21"/>
              <p:cNvPicPr preferRelativeResize="0"/>
              <p:nvPr/>
            </p:nvPicPr>
            <p:blipFill rotWithShape="1">
              <a:blip r:embed="rId4">
                <a:alphaModFix/>
              </a:blip>
              <a:srcRect b="0" l="7114" r="0" t="51195"/>
              <a:stretch/>
            </p:blipFill>
            <p:spPr>
              <a:xfrm>
                <a:off x="7727850" y="1458546"/>
                <a:ext cx="1514875" cy="409175"/>
              </a:xfrm>
              <a:prstGeom prst="rect">
                <a:avLst/>
              </a:prstGeom>
              <a:noFill/>
              <a:ln>
                <a:noFill/>
              </a:ln>
            </p:spPr>
          </p:pic>
          <p:sp>
            <p:nvSpPr>
              <p:cNvPr id="160" name="Google Shape;160;p21"/>
              <p:cNvSpPr txBox="1"/>
              <p:nvPr/>
            </p:nvSpPr>
            <p:spPr>
              <a:xfrm>
                <a:off x="6205319" y="1391711"/>
                <a:ext cx="2023800" cy="327300"/>
              </a:xfrm>
              <a:prstGeom prst="rect">
                <a:avLst/>
              </a:prstGeom>
              <a:noFill/>
              <a:ln>
                <a:noFill/>
              </a:ln>
            </p:spPr>
            <p:txBody>
              <a:bodyPr anchorCtr="0" anchor="t" bIns="166950" lIns="166950" spcFirstLastPara="1" rIns="166950" wrap="square" tIns="166950">
                <a:noAutofit/>
              </a:bodyPr>
              <a:lstStyle/>
              <a:p>
                <a:pPr indent="0" lvl="0" marL="0" rtl="0" algn="l">
                  <a:spcBef>
                    <a:spcPts val="0"/>
                  </a:spcBef>
                  <a:spcAft>
                    <a:spcPts val="0"/>
                  </a:spcAft>
                  <a:buNone/>
                </a:pPr>
                <a:r>
                  <a:rPr lang="en-US" sz="2052">
                    <a:solidFill>
                      <a:schemeClr val="dk1"/>
                    </a:solidFill>
                    <a:latin typeface="Times"/>
                    <a:ea typeface="Times"/>
                    <a:cs typeface="Times"/>
                    <a:sym typeface="Times"/>
                  </a:rPr>
                  <a:t>Imaginary part:</a:t>
                </a:r>
                <a:endParaRPr sz="2052">
                  <a:solidFill>
                    <a:schemeClr val="dk1"/>
                  </a:solidFill>
                  <a:latin typeface="Times"/>
                  <a:ea typeface="Times"/>
                  <a:cs typeface="Times"/>
                  <a:sym typeface="Times"/>
                </a:endParaRPr>
              </a:p>
            </p:txBody>
          </p:sp>
        </p:gr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2"/>
          <p:cNvSpPr txBox="1"/>
          <p:nvPr>
            <p:ph type="title"/>
          </p:nvPr>
        </p:nvSpPr>
        <p:spPr>
          <a:xfrm>
            <a:off x="240875" y="203000"/>
            <a:ext cx="10200900" cy="5547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t/>
            </a:r>
            <a:endParaRPr/>
          </a:p>
          <a:p>
            <a:pPr indent="0" lvl="0" marL="0" rtl="0" algn="l">
              <a:lnSpc>
                <a:spcPct val="90000"/>
              </a:lnSpc>
              <a:spcBef>
                <a:spcPts val="0"/>
              </a:spcBef>
              <a:spcAft>
                <a:spcPts val="0"/>
              </a:spcAft>
              <a:buClr>
                <a:schemeClr val="dk1"/>
              </a:buClr>
              <a:buSzPct val="90140"/>
              <a:buFont typeface="Calibri"/>
              <a:buNone/>
            </a:pPr>
            <a:r>
              <a:rPr lang="en-US" sz="3550"/>
              <a:t>Design Procedure: </a:t>
            </a:r>
            <a:r>
              <a:rPr lang="en-US" sz="3550"/>
              <a:t>Radix-4 Modified Booth Encoding</a:t>
            </a:r>
            <a:endParaRPr sz="3550"/>
          </a:p>
          <a:p>
            <a:pPr indent="0" lvl="0" marL="0" rtl="0" algn="l">
              <a:lnSpc>
                <a:spcPct val="90000"/>
              </a:lnSpc>
              <a:spcBef>
                <a:spcPts val="0"/>
              </a:spcBef>
              <a:spcAft>
                <a:spcPts val="0"/>
              </a:spcAft>
              <a:buClr>
                <a:schemeClr val="dk1"/>
              </a:buClr>
              <a:buSzPct val="100000"/>
              <a:buFont typeface="Calibri"/>
              <a:buNone/>
            </a:pPr>
            <a:r>
              <a:t/>
            </a:r>
            <a:endParaRPr/>
          </a:p>
        </p:txBody>
      </p:sp>
      <p:pic>
        <p:nvPicPr>
          <p:cNvPr id="166" name="Google Shape;166;p22"/>
          <p:cNvPicPr preferRelativeResize="0"/>
          <p:nvPr/>
        </p:nvPicPr>
        <p:blipFill>
          <a:blip r:embed="rId3">
            <a:alphaModFix/>
          </a:blip>
          <a:stretch>
            <a:fillRect/>
          </a:stretch>
        </p:blipFill>
        <p:spPr>
          <a:xfrm>
            <a:off x="5054668" y="3469366"/>
            <a:ext cx="2977684" cy="1408953"/>
          </a:xfrm>
          <a:prstGeom prst="rect">
            <a:avLst/>
          </a:prstGeom>
          <a:noFill/>
          <a:ln>
            <a:noFill/>
          </a:ln>
        </p:spPr>
      </p:pic>
      <p:sp>
        <p:nvSpPr>
          <p:cNvPr id="167" name="Google Shape;167;p22"/>
          <p:cNvSpPr txBox="1"/>
          <p:nvPr/>
        </p:nvSpPr>
        <p:spPr>
          <a:xfrm>
            <a:off x="1776450" y="5505825"/>
            <a:ext cx="8639100" cy="830100"/>
          </a:xfrm>
          <a:prstGeom prst="rect">
            <a:avLst/>
          </a:prstGeom>
          <a:solidFill>
            <a:srgbClr val="FFF2CC"/>
          </a:solidFill>
          <a:ln cap="flat" cmpd="sng" w="9525">
            <a:solidFill>
              <a:schemeClr val="dk1"/>
            </a:solidFill>
            <a:prstDash val="solid"/>
            <a:round/>
            <a:headEnd len="sm" w="sm" type="none"/>
            <a:tailEnd len="sm" w="sm" type="none"/>
          </a:ln>
        </p:spPr>
        <p:txBody>
          <a:bodyPr anchorCtr="0" anchor="t" bIns="139425" lIns="139425" spcFirstLastPara="1" rIns="139425" wrap="square" tIns="139425">
            <a:noAutofit/>
          </a:bodyPr>
          <a:lstStyle/>
          <a:p>
            <a:pPr indent="0" lvl="0" marL="0" rtl="0" algn="ctr">
              <a:lnSpc>
                <a:spcPct val="115000"/>
              </a:lnSpc>
              <a:spcBef>
                <a:spcPts val="1830"/>
              </a:spcBef>
              <a:spcAft>
                <a:spcPts val="0"/>
              </a:spcAft>
              <a:buNone/>
            </a:pPr>
            <a:r>
              <a:rPr lang="en-US" sz="1734">
                <a:solidFill>
                  <a:schemeClr val="dk1"/>
                </a:solidFill>
                <a:latin typeface="Times"/>
                <a:ea typeface="Times"/>
                <a:cs typeface="Times"/>
                <a:sym typeface="Times"/>
              </a:rPr>
              <a:t>Modified Booth Encoding (MBE) efficiently reduces the number of partial products—</a:t>
            </a:r>
            <a:r>
              <a:rPr b="1" lang="en-US" sz="1734">
                <a:solidFill>
                  <a:srgbClr val="38761D"/>
                </a:solidFill>
                <a:latin typeface="Times"/>
                <a:ea typeface="Times"/>
                <a:cs typeface="Times"/>
                <a:sym typeface="Times"/>
              </a:rPr>
              <a:t>halving multiplication complexity</a:t>
            </a:r>
            <a:r>
              <a:rPr lang="en-US" sz="1734">
                <a:solidFill>
                  <a:schemeClr val="dk1"/>
                </a:solidFill>
                <a:latin typeface="Times"/>
                <a:ea typeface="Times"/>
                <a:cs typeface="Times"/>
                <a:sym typeface="Times"/>
              </a:rPr>
              <a:t> compared to direct multiplication of operands.</a:t>
            </a:r>
            <a:endParaRPr sz="1734">
              <a:solidFill>
                <a:schemeClr val="dk1"/>
              </a:solidFill>
              <a:latin typeface="Times"/>
              <a:ea typeface="Times"/>
              <a:cs typeface="Times"/>
              <a:sym typeface="Times"/>
            </a:endParaRPr>
          </a:p>
          <a:p>
            <a:pPr indent="0" lvl="0" marL="0" rtl="0" algn="l">
              <a:spcBef>
                <a:spcPts val="1830"/>
              </a:spcBef>
              <a:spcAft>
                <a:spcPts val="0"/>
              </a:spcAft>
              <a:buNone/>
            </a:pPr>
            <a:r>
              <a:t/>
            </a:r>
            <a:endParaRPr sz="2134">
              <a:solidFill>
                <a:srgbClr val="5C5948"/>
              </a:solidFill>
              <a:latin typeface="Questrial"/>
              <a:ea typeface="Questrial"/>
              <a:cs typeface="Questrial"/>
              <a:sym typeface="Questrial"/>
            </a:endParaRPr>
          </a:p>
        </p:txBody>
      </p:sp>
      <p:pic>
        <p:nvPicPr>
          <p:cNvPr id="168" name="Google Shape;168;p22"/>
          <p:cNvPicPr preferRelativeResize="0"/>
          <p:nvPr/>
        </p:nvPicPr>
        <p:blipFill>
          <a:blip r:embed="rId4">
            <a:alphaModFix/>
          </a:blip>
          <a:stretch>
            <a:fillRect/>
          </a:stretch>
        </p:blipFill>
        <p:spPr>
          <a:xfrm>
            <a:off x="5866275" y="3760775"/>
            <a:ext cx="1835500" cy="1056675"/>
          </a:xfrm>
          <a:prstGeom prst="rect">
            <a:avLst/>
          </a:prstGeom>
          <a:noFill/>
          <a:ln>
            <a:noFill/>
          </a:ln>
        </p:spPr>
      </p:pic>
      <p:pic>
        <p:nvPicPr>
          <p:cNvPr id="169" name="Google Shape;169;p22"/>
          <p:cNvPicPr preferRelativeResize="0"/>
          <p:nvPr/>
        </p:nvPicPr>
        <p:blipFill rotWithShape="1">
          <a:blip r:embed="rId5">
            <a:alphaModFix/>
          </a:blip>
          <a:srcRect b="0" l="0" r="2666" t="0"/>
          <a:stretch/>
        </p:blipFill>
        <p:spPr>
          <a:xfrm>
            <a:off x="6707900" y="1542925"/>
            <a:ext cx="5207700" cy="3501800"/>
          </a:xfrm>
          <a:prstGeom prst="rect">
            <a:avLst/>
          </a:prstGeom>
          <a:noFill/>
          <a:ln>
            <a:noFill/>
          </a:ln>
        </p:spPr>
      </p:pic>
      <p:grpSp>
        <p:nvGrpSpPr>
          <p:cNvPr id="170" name="Google Shape;170;p22"/>
          <p:cNvGrpSpPr/>
          <p:nvPr/>
        </p:nvGrpSpPr>
        <p:grpSpPr>
          <a:xfrm>
            <a:off x="240875" y="1015498"/>
            <a:ext cx="6912350" cy="4433802"/>
            <a:chOff x="275300" y="1138323"/>
            <a:chExt cx="6912350" cy="4433802"/>
          </a:xfrm>
        </p:grpSpPr>
        <p:pic>
          <p:nvPicPr>
            <p:cNvPr id="171" name="Google Shape;171;p22"/>
            <p:cNvPicPr preferRelativeResize="0"/>
            <p:nvPr/>
          </p:nvPicPr>
          <p:blipFill rotWithShape="1">
            <a:blip r:embed="rId6">
              <a:alphaModFix/>
            </a:blip>
            <a:srcRect b="50000" l="0" r="0" t="0"/>
            <a:stretch/>
          </p:blipFill>
          <p:spPr>
            <a:xfrm>
              <a:off x="275300" y="1748525"/>
              <a:ext cx="3047675" cy="818699"/>
            </a:xfrm>
            <a:prstGeom prst="rect">
              <a:avLst/>
            </a:prstGeom>
            <a:noFill/>
            <a:ln>
              <a:noFill/>
            </a:ln>
          </p:spPr>
        </p:pic>
        <p:pic>
          <p:nvPicPr>
            <p:cNvPr id="172" name="Google Shape;172;p22"/>
            <p:cNvPicPr preferRelativeResize="0"/>
            <p:nvPr/>
          </p:nvPicPr>
          <p:blipFill rotWithShape="1">
            <a:blip r:embed="rId7">
              <a:alphaModFix/>
            </a:blip>
            <a:srcRect b="0" l="3119" r="0" t="38030"/>
            <a:stretch/>
          </p:blipFill>
          <p:spPr>
            <a:xfrm>
              <a:off x="2635500" y="3583114"/>
              <a:ext cx="3609500" cy="417875"/>
            </a:xfrm>
            <a:prstGeom prst="rect">
              <a:avLst/>
            </a:prstGeom>
            <a:noFill/>
            <a:ln>
              <a:noFill/>
            </a:ln>
          </p:spPr>
        </p:pic>
        <p:sp>
          <p:nvSpPr>
            <p:cNvPr id="173" name="Google Shape;173;p22"/>
            <p:cNvSpPr txBox="1"/>
            <p:nvPr/>
          </p:nvSpPr>
          <p:spPr>
            <a:xfrm>
              <a:off x="307450" y="2546588"/>
              <a:ext cx="6880200" cy="920400"/>
            </a:xfrm>
            <a:prstGeom prst="rect">
              <a:avLst/>
            </a:prstGeom>
            <a:noFill/>
            <a:ln>
              <a:noFill/>
            </a:ln>
          </p:spPr>
          <p:txBody>
            <a:bodyPr anchorCtr="0" anchor="t" bIns="139425" lIns="139425" spcFirstLastPara="1" rIns="139425" wrap="square" tIns="139425">
              <a:noAutofit/>
            </a:bodyPr>
            <a:lstStyle/>
            <a:p>
              <a:pPr indent="0" lvl="0" marL="0" rtl="0" algn="l">
                <a:spcBef>
                  <a:spcPts val="0"/>
                </a:spcBef>
                <a:spcAft>
                  <a:spcPts val="0"/>
                </a:spcAft>
                <a:buNone/>
              </a:pPr>
              <a:r>
                <a:rPr b="1" lang="en-US" sz="2134" u="sng">
                  <a:solidFill>
                    <a:schemeClr val="dk1"/>
                  </a:solidFill>
                  <a:latin typeface="Times"/>
                  <a:ea typeface="Times"/>
                  <a:cs typeface="Times"/>
                  <a:sym typeface="Times"/>
                </a:rPr>
                <a:t>Radix-4 MBE Representation: </a:t>
              </a:r>
              <a:endParaRPr b="1" sz="2134" u="sng">
                <a:solidFill>
                  <a:schemeClr val="dk1"/>
                </a:solidFill>
                <a:latin typeface="Times"/>
                <a:ea typeface="Times"/>
                <a:cs typeface="Times"/>
                <a:sym typeface="Times"/>
              </a:endParaRPr>
            </a:p>
            <a:p>
              <a:pPr indent="0" lvl="0" marL="0" rtl="0" algn="l">
                <a:spcBef>
                  <a:spcPts val="0"/>
                </a:spcBef>
                <a:spcAft>
                  <a:spcPts val="0"/>
                </a:spcAft>
                <a:buNone/>
              </a:pPr>
              <a:r>
                <a:rPr lang="en-US" sz="1734">
                  <a:solidFill>
                    <a:schemeClr val="dk1"/>
                  </a:solidFill>
                  <a:latin typeface="Times"/>
                  <a:ea typeface="Times"/>
                  <a:cs typeface="Times"/>
                  <a:sym typeface="Times"/>
                </a:rPr>
                <a:t>W</a:t>
              </a:r>
              <a:r>
                <a:rPr lang="en-US" sz="1734">
                  <a:solidFill>
                    <a:schemeClr val="dk1"/>
                  </a:solidFill>
                  <a:latin typeface="Times"/>
                  <a:ea typeface="Times"/>
                  <a:cs typeface="Times"/>
                  <a:sym typeface="Times"/>
                </a:rPr>
                <a:t>here x</a:t>
              </a:r>
              <a:r>
                <a:rPr baseline="-25000" lang="en-US" sz="1734">
                  <a:solidFill>
                    <a:schemeClr val="dk1"/>
                  </a:solidFill>
                  <a:latin typeface="Times"/>
                  <a:ea typeface="Times"/>
                  <a:cs typeface="Times"/>
                  <a:sym typeface="Times"/>
                </a:rPr>
                <a:t>m</a:t>
              </a:r>
              <a:r>
                <a:rPr lang="en-US" sz="1734">
                  <a:solidFill>
                    <a:schemeClr val="dk1"/>
                  </a:solidFill>
                  <a:latin typeface="Times"/>
                  <a:ea typeface="Times"/>
                  <a:cs typeface="Times"/>
                  <a:sym typeface="Times"/>
                </a:rPr>
                <a:t> belongs to the signed digit set {−2,−1,0,1,2} given by</a:t>
              </a:r>
              <a:endParaRPr sz="1734">
                <a:solidFill>
                  <a:schemeClr val="dk1"/>
                </a:solidFill>
                <a:latin typeface="Times"/>
                <a:ea typeface="Times"/>
                <a:cs typeface="Times"/>
                <a:sym typeface="Times"/>
              </a:endParaRPr>
            </a:p>
          </p:txBody>
        </p:sp>
        <p:sp>
          <p:nvSpPr>
            <p:cNvPr id="174" name="Google Shape;174;p22"/>
            <p:cNvSpPr txBox="1"/>
            <p:nvPr/>
          </p:nvSpPr>
          <p:spPr>
            <a:xfrm>
              <a:off x="307450" y="1138323"/>
              <a:ext cx="6275700" cy="610200"/>
            </a:xfrm>
            <a:prstGeom prst="rect">
              <a:avLst/>
            </a:prstGeom>
            <a:noFill/>
            <a:ln>
              <a:noFill/>
            </a:ln>
          </p:spPr>
          <p:txBody>
            <a:bodyPr anchorCtr="0" anchor="t" bIns="139425" lIns="139425" spcFirstLastPara="1" rIns="139425" wrap="square" tIns="139425">
              <a:spAutoFit/>
            </a:bodyPr>
            <a:lstStyle/>
            <a:p>
              <a:pPr indent="0" lvl="0" marL="0" rtl="0" algn="l">
                <a:spcBef>
                  <a:spcPts val="0"/>
                </a:spcBef>
                <a:spcAft>
                  <a:spcPts val="0"/>
                </a:spcAft>
                <a:buNone/>
              </a:pPr>
              <a:r>
                <a:rPr b="1" lang="en-US" sz="2134" u="sng">
                  <a:solidFill>
                    <a:schemeClr val="dk1"/>
                  </a:solidFill>
                  <a:latin typeface="Times"/>
                  <a:ea typeface="Times"/>
                  <a:cs typeface="Times"/>
                  <a:sym typeface="Times"/>
                </a:rPr>
                <a:t>2’s complement Representation for a and b:</a:t>
              </a:r>
              <a:endParaRPr b="1" sz="2134" u="sng">
                <a:solidFill>
                  <a:schemeClr val="dk1"/>
                </a:solidFill>
                <a:latin typeface="Times"/>
                <a:ea typeface="Times"/>
                <a:cs typeface="Times"/>
                <a:sym typeface="Times"/>
              </a:endParaRPr>
            </a:p>
          </p:txBody>
        </p:sp>
        <p:pic>
          <p:nvPicPr>
            <p:cNvPr id="175" name="Google Shape;175;p22"/>
            <p:cNvPicPr preferRelativeResize="0"/>
            <p:nvPr/>
          </p:nvPicPr>
          <p:blipFill rotWithShape="1">
            <a:blip r:embed="rId6">
              <a:alphaModFix/>
            </a:blip>
            <a:srcRect b="0" l="0" r="7019" t="53329"/>
            <a:stretch/>
          </p:blipFill>
          <p:spPr>
            <a:xfrm>
              <a:off x="3674475" y="1778925"/>
              <a:ext cx="2845250" cy="767333"/>
            </a:xfrm>
            <a:prstGeom prst="rect">
              <a:avLst/>
            </a:prstGeom>
            <a:noFill/>
            <a:ln>
              <a:noFill/>
            </a:ln>
          </p:spPr>
        </p:pic>
        <p:pic>
          <p:nvPicPr>
            <p:cNvPr id="176" name="Google Shape;176;p22"/>
            <p:cNvPicPr preferRelativeResize="0"/>
            <p:nvPr/>
          </p:nvPicPr>
          <p:blipFill>
            <a:blip r:embed="rId8">
              <a:alphaModFix/>
            </a:blip>
            <a:stretch>
              <a:fillRect/>
            </a:stretch>
          </p:blipFill>
          <p:spPr>
            <a:xfrm>
              <a:off x="427526" y="3414701"/>
              <a:ext cx="2009725" cy="754700"/>
            </a:xfrm>
            <a:prstGeom prst="rect">
              <a:avLst/>
            </a:prstGeom>
            <a:noFill/>
            <a:ln>
              <a:noFill/>
            </a:ln>
          </p:spPr>
        </p:pic>
        <p:pic>
          <p:nvPicPr>
            <p:cNvPr id="177" name="Google Shape;177;p22"/>
            <p:cNvPicPr preferRelativeResize="0"/>
            <p:nvPr/>
          </p:nvPicPr>
          <p:blipFill>
            <a:blip r:embed="rId4">
              <a:alphaModFix/>
            </a:blip>
            <a:stretch>
              <a:fillRect/>
            </a:stretch>
          </p:blipFill>
          <p:spPr>
            <a:xfrm>
              <a:off x="5091325" y="3984030"/>
              <a:ext cx="1630825" cy="852325"/>
            </a:xfrm>
            <a:prstGeom prst="rect">
              <a:avLst/>
            </a:prstGeom>
            <a:noFill/>
            <a:ln>
              <a:noFill/>
            </a:ln>
          </p:spPr>
        </p:pic>
        <p:sp>
          <p:nvSpPr>
            <p:cNvPr id="178" name="Google Shape;178;p22"/>
            <p:cNvSpPr txBox="1"/>
            <p:nvPr/>
          </p:nvSpPr>
          <p:spPr>
            <a:xfrm>
              <a:off x="307450" y="4185400"/>
              <a:ext cx="6091200" cy="714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1721">
                  <a:solidFill>
                    <a:schemeClr val="dk1"/>
                  </a:solidFill>
                  <a:latin typeface="Times"/>
                  <a:ea typeface="Times"/>
                  <a:cs typeface="Times"/>
                  <a:sym typeface="Times"/>
                </a:rPr>
                <a:t>On substituting a and b in Radix-4 Modified Booth Encoded form, expressions for real and imaginary part are given by:</a:t>
              </a:r>
              <a:endParaRPr sz="1100"/>
            </a:p>
          </p:txBody>
        </p:sp>
        <p:pic>
          <p:nvPicPr>
            <p:cNvPr id="179" name="Google Shape;179;p22"/>
            <p:cNvPicPr preferRelativeResize="0"/>
            <p:nvPr/>
          </p:nvPicPr>
          <p:blipFill rotWithShape="1">
            <a:blip r:embed="rId9">
              <a:alphaModFix/>
            </a:blip>
            <a:srcRect b="57655" l="0" r="6777" t="0"/>
            <a:stretch/>
          </p:blipFill>
          <p:spPr>
            <a:xfrm>
              <a:off x="307450" y="4817450"/>
              <a:ext cx="3131300" cy="754675"/>
            </a:xfrm>
            <a:prstGeom prst="rect">
              <a:avLst/>
            </a:prstGeom>
            <a:noFill/>
            <a:ln>
              <a:noFill/>
            </a:ln>
          </p:spPr>
        </p:pic>
        <p:pic>
          <p:nvPicPr>
            <p:cNvPr id="180" name="Google Shape;180;p22"/>
            <p:cNvPicPr preferRelativeResize="0"/>
            <p:nvPr/>
          </p:nvPicPr>
          <p:blipFill rotWithShape="1">
            <a:blip r:embed="rId9">
              <a:alphaModFix/>
            </a:blip>
            <a:srcRect b="4733" l="4442" r="8282" t="56371"/>
            <a:stretch/>
          </p:blipFill>
          <p:spPr>
            <a:xfrm>
              <a:off x="3815475" y="4858374"/>
              <a:ext cx="2845250" cy="672825"/>
            </a:xfrm>
            <a:prstGeom prst="rect">
              <a:avLst/>
            </a:prstGeom>
            <a:noFill/>
            <a:ln>
              <a:noFill/>
            </a:ln>
          </p:spPr>
        </p:pic>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3"/>
          <p:cNvSpPr txBox="1"/>
          <p:nvPr>
            <p:ph type="title"/>
          </p:nvPr>
        </p:nvSpPr>
        <p:spPr>
          <a:xfrm>
            <a:off x="240875" y="203000"/>
            <a:ext cx="10293000" cy="5547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880"/>
              <a:buFont typeface="Calibri"/>
              <a:buNone/>
            </a:pPr>
            <a:r>
              <a:rPr lang="en-US"/>
              <a:t>Design Procedure: </a:t>
            </a:r>
            <a:r>
              <a:rPr lang="en-US"/>
              <a:t>Distributed Arithmetic with a CSA Tree</a:t>
            </a:r>
            <a:endParaRPr/>
          </a:p>
        </p:txBody>
      </p:sp>
      <p:pic>
        <p:nvPicPr>
          <p:cNvPr id="186" name="Google Shape;186;p23"/>
          <p:cNvPicPr preferRelativeResize="0"/>
          <p:nvPr/>
        </p:nvPicPr>
        <p:blipFill>
          <a:blip r:embed="rId3">
            <a:alphaModFix/>
          </a:blip>
          <a:stretch>
            <a:fillRect/>
          </a:stretch>
        </p:blipFill>
        <p:spPr>
          <a:xfrm>
            <a:off x="5054668" y="3469366"/>
            <a:ext cx="2977684" cy="1408953"/>
          </a:xfrm>
          <a:prstGeom prst="rect">
            <a:avLst/>
          </a:prstGeom>
          <a:noFill/>
          <a:ln>
            <a:noFill/>
          </a:ln>
        </p:spPr>
      </p:pic>
      <p:pic>
        <p:nvPicPr>
          <p:cNvPr id="187" name="Google Shape;187;p23"/>
          <p:cNvPicPr preferRelativeResize="0"/>
          <p:nvPr/>
        </p:nvPicPr>
        <p:blipFill>
          <a:blip r:embed="rId4">
            <a:alphaModFix/>
          </a:blip>
          <a:stretch>
            <a:fillRect/>
          </a:stretch>
        </p:blipFill>
        <p:spPr>
          <a:xfrm>
            <a:off x="5140772" y="3760768"/>
            <a:ext cx="2561025" cy="1056687"/>
          </a:xfrm>
          <a:prstGeom prst="rect">
            <a:avLst/>
          </a:prstGeom>
          <a:noFill/>
          <a:ln>
            <a:noFill/>
          </a:ln>
        </p:spPr>
      </p:pic>
      <p:sp>
        <p:nvSpPr>
          <p:cNvPr id="188" name="Google Shape;188;p23"/>
          <p:cNvSpPr txBox="1"/>
          <p:nvPr/>
        </p:nvSpPr>
        <p:spPr>
          <a:xfrm>
            <a:off x="787373" y="1291124"/>
            <a:ext cx="10522200" cy="4722600"/>
          </a:xfrm>
          <a:prstGeom prst="rect">
            <a:avLst/>
          </a:prstGeom>
          <a:noFill/>
          <a:ln>
            <a:noFill/>
          </a:ln>
        </p:spPr>
        <p:txBody>
          <a:bodyPr anchorCtr="0" anchor="t" bIns="132000" lIns="132000" spcFirstLastPara="1" rIns="132000" wrap="square" tIns="132000">
            <a:noAutofit/>
          </a:bodyPr>
          <a:lstStyle/>
          <a:p>
            <a:pPr indent="0" lvl="0" marL="0" rtl="0" algn="l">
              <a:spcBef>
                <a:spcPts val="0"/>
              </a:spcBef>
              <a:spcAft>
                <a:spcPts val="0"/>
              </a:spcAft>
              <a:buNone/>
            </a:pPr>
            <a:r>
              <a:t/>
            </a:r>
            <a:endParaRPr sz="2021">
              <a:solidFill>
                <a:srgbClr val="434343"/>
              </a:solidFill>
              <a:latin typeface="Questrial"/>
              <a:ea typeface="Questrial"/>
              <a:cs typeface="Questrial"/>
              <a:sym typeface="Questrial"/>
            </a:endParaRPr>
          </a:p>
          <a:p>
            <a:pPr indent="0" lvl="0" marL="0" rtl="0" algn="l">
              <a:spcBef>
                <a:spcPts val="1444"/>
              </a:spcBef>
              <a:spcAft>
                <a:spcPts val="1444"/>
              </a:spcAft>
              <a:buNone/>
            </a:pPr>
            <a:r>
              <a:t/>
            </a:r>
            <a:endParaRPr sz="2021">
              <a:solidFill>
                <a:srgbClr val="434343"/>
              </a:solidFill>
              <a:latin typeface="Questrial"/>
              <a:ea typeface="Questrial"/>
              <a:cs typeface="Questrial"/>
              <a:sym typeface="Questrial"/>
            </a:endParaRPr>
          </a:p>
        </p:txBody>
      </p:sp>
      <p:sp>
        <p:nvSpPr>
          <p:cNvPr id="189" name="Google Shape;189;p23"/>
          <p:cNvSpPr txBox="1"/>
          <p:nvPr/>
        </p:nvSpPr>
        <p:spPr>
          <a:xfrm>
            <a:off x="533400" y="1080325"/>
            <a:ext cx="5594100" cy="4812900"/>
          </a:xfrm>
          <a:prstGeom prst="rect">
            <a:avLst/>
          </a:prstGeom>
          <a:noFill/>
          <a:ln>
            <a:noFill/>
          </a:ln>
        </p:spPr>
        <p:txBody>
          <a:bodyPr anchorCtr="0" anchor="t" bIns="128350" lIns="128350" spcFirstLastPara="1" rIns="128350" wrap="square" tIns="128350">
            <a:noAutofit/>
          </a:bodyPr>
          <a:lstStyle/>
          <a:p>
            <a:pPr indent="0" lvl="0" marL="0" rtl="0" algn="just">
              <a:spcBef>
                <a:spcPts val="0"/>
              </a:spcBef>
              <a:spcAft>
                <a:spcPts val="0"/>
              </a:spcAft>
              <a:buNone/>
            </a:pPr>
            <a:r>
              <a:rPr b="1" lang="en-US" sz="2000" u="sng">
                <a:solidFill>
                  <a:schemeClr val="dk1"/>
                </a:solidFill>
                <a:latin typeface="Times"/>
                <a:ea typeface="Times"/>
                <a:cs typeface="Times"/>
                <a:sym typeface="Times"/>
              </a:rPr>
              <a:t>Core Idea</a:t>
            </a:r>
            <a:r>
              <a:rPr lang="en-US" sz="2000" u="sng">
                <a:solidFill>
                  <a:schemeClr val="dk1"/>
                </a:solidFill>
                <a:latin typeface="Times"/>
                <a:ea typeface="Times"/>
                <a:cs typeface="Times"/>
                <a:sym typeface="Times"/>
              </a:rPr>
              <a:t>:</a:t>
            </a:r>
            <a:r>
              <a:rPr lang="en-US" sz="2000">
                <a:solidFill>
                  <a:schemeClr val="dk1"/>
                </a:solidFill>
                <a:latin typeface="Times"/>
                <a:ea typeface="Times"/>
                <a:cs typeface="Times"/>
                <a:sym typeface="Times"/>
              </a:rPr>
              <a:t> We avoid separate, slow calculations by grouping all partial products from both ac and -bd together from the start.</a:t>
            </a:r>
            <a:endParaRPr sz="2000">
              <a:solidFill>
                <a:schemeClr val="dk1"/>
              </a:solidFill>
              <a:latin typeface="Times"/>
              <a:ea typeface="Times"/>
              <a:cs typeface="Times"/>
              <a:sym typeface="Times"/>
            </a:endParaRPr>
          </a:p>
          <a:p>
            <a:pPr indent="0" lvl="0" marL="0" rtl="0" algn="just">
              <a:spcBef>
                <a:spcPts val="1404"/>
              </a:spcBef>
              <a:spcAft>
                <a:spcPts val="0"/>
              </a:spcAft>
              <a:buNone/>
            </a:pPr>
            <a:r>
              <a:rPr b="1" lang="en-US" sz="2000" u="sng">
                <a:solidFill>
                  <a:schemeClr val="dk1"/>
                </a:solidFill>
                <a:latin typeface="Times"/>
                <a:ea typeface="Times"/>
                <a:cs typeface="Times"/>
                <a:sym typeface="Times"/>
              </a:rPr>
              <a:t>Booth Encoding's Role</a:t>
            </a:r>
            <a:r>
              <a:rPr lang="en-US" sz="2000">
                <a:solidFill>
                  <a:schemeClr val="dk1"/>
                </a:solidFill>
                <a:latin typeface="Times"/>
                <a:ea typeface="Times"/>
                <a:cs typeface="Times"/>
                <a:sym typeface="Times"/>
              </a:rPr>
              <a:t>: First, Booth Encoding slashes the number of rows for each multiplication in half (from M to M/2).</a:t>
            </a:r>
            <a:endParaRPr sz="2000">
              <a:solidFill>
                <a:schemeClr val="dk1"/>
              </a:solidFill>
              <a:latin typeface="Times"/>
              <a:ea typeface="Times"/>
              <a:cs typeface="Times"/>
              <a:sym typeface="Times"/>
            </a:endParaRPr>
          </a:p>
          <a:p>
            <a:pPr indent="0" lvl="0" marL="0" rtl="0" algn="just">
              <a:spcBef>
                <a:spcPts val="1404"/>
              </a:spcBef>
              <a:spcAft>
                <a:spcPts val="0"/>
              </a:spcAft>
              <a:buNone/>
            </a:pPr>
            <a:r>
              <a:rPr b="1" lang="en-US" sz="2000" u="sng">
                <a:solidFill>
                  <a:schemeClr val="dk1"/>
                </a:solidFill>
                <a:latin typeface="Times"/>
                <a:ea typeface="Times"/>
                <a:cs typeface="Times"/>
                <a:sym typeface="Times"/>
              </a:rPr>
              <a:t>The Adder Tree's Job</a:t>
            </a:r>
            <a:r>
              <a:rPr b="1" lang="en-US" sz="2000">
                <a:solidFill>
                  <a:schemeClr val="dk1"/>
                </a:solidFill>
                <a:latin typeface="Times"/>
                <a:ea typeface="Times"/>
                <a:cs typeface="Times"/>
                <a:sym typeface="Times"/>
              </a:rPr>
              <a:t>:</a:t>
            </a:r>
            <a:r>
              <a:rPr lang="en-US" sz="2000">
                <a:solidFill>
                  <a:schemeClr val="dk1"/>
                </a:solidFill>
                <a:latin typeface="Times"/>
                <a:ea typeface="Times"/>
                <a:cs typeface="Times"/>
                <a:sym typeface="Times"/>
              </a:rPr>
              <a:t> The </a:t>
            </a:r>
            <a:r>
              <a:rPr lang="en-US" sz="2000" u="sng">
                <a:solidFill>
                  <a:schemeClr val="dk1"/>
                </a:solidFill>
                <a:latin typeface="Times"/>
                <a:ea typeface="Times"/>
                <a:cs typeface="Times"/>
                <a:sym typeface="Times"/>
              </a:rPr>
              <a:t>Carry-Save Adder Tree</a:t>
            </a:r>
            <a:r>
              <a:rPr lang="en-US" sz="2000">
                <a:solidFill>
                  <a:schemeClr val="dk1"/>
                </a:solidFill>
                <a:latin typeface="Times"/>
                <a:ea typeface="Times"/>
                <a:cs typeface="Times"/>
                <a:sym typeface="Times"/>
              </a:rPr>
              <a:t> (CSAT) takes this combined stack of M total rows and efficiently compresses it into just two final words (a Sum and a Carry), which are further used to calculate final real/imaginary part using </a:t>
            </a:r>
            <a:r>
              <a:rPr lang="en-US" sz="2000" u="sng">
                <a:solidFill>
                  <a:schemeClr val="dk1"/>
                </a:solidFill>
                <a:latin typeface="Times"/>
                <a:ea typeface="Times"/>
                <a:cs typeface="Times"/>
                <a:sym typeface="Times"/>
              </a:rPr>
              <a:t>Kogge Stone Adder</a:t>
            </a:r>
            <a:r>
              <a:rPr lang="en-US" sz="2000">
                <a:solidFill>
                  <a:schemeClr val="dk1"/>
                </a:solidFill>
                <a:latin typeface="Times"/>
                <a:ea typeface="Times"/>
                <a:cs typeface="Times"/>
                <a:sym typeface="Times"/>
              </a:rPr>
              <a:t>.</a:t>
            </a:r>
            <a:endParaRPr sz="2000">
              <a:solidFill>
                <a:schemeClr val="dk1"/>
              </a:solidFill>
              <a:latin typeface="Times"/>
              <a:ea typeface="Times"/>
              <a:cs typeface="Times"/>
              <a:sym typeface="Times"/>
            </a:endParaRPr>
          </a:p>
          <a:p>
            <a:pPr indent="0" lvl="0" marL="0" rtl="0" algn="just">
              <a:spcBef>
                <a:spcPts val="1404"/>
              </a:spcBef>
              <a:spcAft>
                <a:spcPts val="0"/>
              </a:spcAft>
              <a:buNone/>
            </a:pPr>
            <a:r>
              <a:rPr b="1" lang="en-US" sz="2000" u="sng">
                <a:solidFill>
                  <a:schemeClr val="dk1"/>
                </a:solidFill>
                <a:latin typeface="Times"/>
                <a:ea typeface="Times"/>
                <a:cs typeface="Times"/>
                <a:sym typeface="Times"/>
              </a:rPr>
              <a:t>Why it's </a:t>
            </a:r>
            <a:r>
              <a:rPr b="1" lang="en-US" sz="2000" u="sng">
                <a:solidFill>
                  <a:srgbClr val="6AA84F"/>
                </a:solidFill>
                <a:latin typeface="Times"/>
                <a:ea typeface="Times"/>
                <a:cs typeface="Times"/>
                <a:sym typeface="Times"/>
              </a:rPr>
              <a:t>Faster</a:t>
            </a:r>
            <a:r>
              <a:rPr lang="en-US" sz="2000">
                <a:solidFill>
                  <a:srgbClr val="434343"/>
                </a:solidFill>
                <a:latin typeface="Times"/>
                <a:ea typeface="Times"/>
                <a:cs typeface="Times"/>
                <a:sym typeface="Times"/>
              </a:rPr>
              <a:t>: </a:t>
            </a:r>
            <a:r>
              <a:rPr lang="en-US" sz="2000">
                <a:solidFill>
                  <a:schemeClr val="dk1"/>
                </a:solidFill>
                <a:latin typeface="Times"/>
                <a:ea typeface="Times"/>
                <a:cs typeface="Times"/>
                <a:sym typeface="Times"/>
              </a:rPr>
              <a:t>This "one-shot" reduction process is massively </a:t>
            </a:r>
            <a:r>
              <a:rPr b="1" lang="en-US" sz="2000">
                <a:solidFill>
                  <a:srgbClr val="166018"/>
                </a:solidFill>
                <a:latin typeface="Times"/>
                <a:ea typeface="Times"/>
                <a:cs typeface="Times"/>
                <a:sym typeface="Times"/>
              </a:rPr>
              <a:t>parallel</a:t>
            </a:r>
            <a:r>
              <a:rPr lang="en-US" sz="2000">
                <a:solidFill>
                  <a:schemeClr val="dk1"/>
                </a:solidFill>
                <a:latin typeface="Times"/>
                <a:ea typeface="Times"/>
                <a:cs typeface="Times"/>
                <a:sym typeface="Times"/>
              </a:rPr>
              <a:t> and</a:t>
            </a:r>
            <a:r>
              <a:rPr lang="en-US" sz="2000">
                <a:solidFill>
                  <a:srgbClr val="434343"/>
                </a:solidFill>
                <a:latin typeface="Times"/>
                <a:ea typeface="Times"/>
                <a:cs typeface="Times"/>
                <a:sym typeface="Times"/>
              </a:rPr>
              <a:t> </a:t>
            </a:r>
            <a:r>
              <a:rPr b="1" lang="en-US" sz="2000">
                <a:solidFill>
                  <a:srgbClr val="188038"/>
                </a:solidFill>
                <a:latin typeface="Times"/>
                <a:ea typeface="Times"/>
                <a:cs typeface="Times"/>
                <a:sym typeface="Times"/>
              </a:rPr>
              <a:t>avoids the extra delay of a second adder stage</a:t>
            </a:r>
            <a:r>
              <a:rPr lang="en-US" sz="2000">
                <a:solidFill>
                  <a:srgbClr val="434343"/>
                </a:solidFill>
                <a:latin typeface="Times"/>
                <a:ea typeface="Times"/>
                <a:cs typeface="Times"/>
                <a:sym typeface="Times"/>
              </a:rPr>
              <a:t> </a:t>
            </a:r>
            <a:r>
              <a:rPr lang="en-US" sz="2000">
                <a:latin typeface="Times"/>
                <a:ea typeface="Times"/>
                <a:cs typeface="Times"/>
                <a:sym typeface="Times"/>
              </a:rPr>
              <a:t>found in older designs.</a:t>
            </a:r>
            <a:endParaRPr sz="2000">
              <a:latin typeface="Times"/>
              <a:ea typeface="Times"/>
              <a:cs typeface="Times"/>
              <a:sym typeface="Times"/>
            </a:endParaRPr>
          </a:p>
          <a:p>
            <a:pPr indent="0" lvl="0" marL="0" rtl="0" algn="just">
              <a:spcBef>
                <a:spcPts val="1404"/>
              </a:spcBef>
              <a:spcAft>
                <a:spcPts val="1404"/>
              </a:spcAft>
              <a:buNone/>
            </a:pPr>
            <a:r>
              <a:t/>
            </a:r>
            <a:endParaRPr sz="2000">
              <a:latin typeface="Times"/>
              <a:ea typeface="Times"/>
              <a:cs typeface="Times"/>
              <a:sym typeface="Times"/>
            </a:endParaRPr>
          </a:p>
        </p:txBody>
      </p:sp>
      <p:pic>
        <p:nvPicPr>
          <p:cNvPr id="190" name="Google Shape;190;p23"/>
          <p:cNvPicPr preferRelativeResize="0"/>
          <p:nvPr/>
        </p:nvPicPr>
        <p:blipFill rotWithShape="1">
          <a:blip r:embed="rId5">
            <a:alphaModFix/>
          </a:blip>
          <a:srcRect b="1495" l="0" r="0" t="5619"/>
          <a:stretch/>
        </p:blipFill>
        <p:spPr>
          <a:xfrm>
            <a:off x="6814506" y="2661103"/>
            <a:ext cx="5020068" cy="3733522"/>
          </a:xfrm>
          <a:prstGeom prst="rect">
            <a:avLst/>
          </a:prstGeom>
          <a:noFill/>
          <a:ln>
            <a:noFill/>
          </a:ln>
        </p:spPr>
      </p:pic>
      <p:pic>
        <p:nvPicPr>
          <p:cNvPr id="191" name="Google Shape;191;p23"/>
          <p:cNvPicPr preferRelativeResize="0"/>
          <p:nvPr/>
        </p:nvPicPr>
        <p:blipFill>
          <a:blip r:embed="rId6">
            <a:alphaModFix/>
          </a:blip>
          <a:stretch>
            <a:fillRect/>
          </a:stretch>
        </p:blipFill>
        <p:spPr>
          <a:xfrm>
            <a:off x="7218903" y="1131497"/>
            <a:ext cx="3852562" cy="142963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4"/>
          <p:cNvSpPr txBox="1"/>
          <p:nvPr>
            <p:ph type="title"/>
          </p:nvPr>
        </p:nvSpPr>
        <p:spPr>
          <a:xfrm>
            <a:off x="240872" y="202991"/>
            <a:ext cx="9389400" cy="554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alibri"/>
              <a:buNone/>
            </a:pPr>
            <a:r>
              <a:rPr lang="en-US"/>
              <a:t>Design Procedure: Overview</a:t>
            </a:r>
            <a:endParaRPr/>
          </a:p>
        </p:txBody>
      </p:sp>
      <p:pic>
        <p:nvPicPr>
          <p:cNvPr id="197" name="Google Shape;197;p24"/>
          <p:cNvPicPr preferRelativeResize="0"/>
          <p:nvPr/>
        </p:nvPicPr>
        <p:blipFill>
          <a:blip r:embed="rId3">
            <a:alphaModFix/>
          </a:blip>
          <a:stretch>
            <a:fillRect/>
          </a:stretch>
        </p:blipFill>
        <p:spPr>
          <a:xfrm>
            <a:off x="5054668" y="3469366"/>
            <a:ext cx="2977684" cy="1408953"/>
          </a:xfrm>
          <a:prstGeom prst="rect">
            <a:avLst/>
          </a:prstGeom>
          <a:noFill/>
          <a:ln>
            <a:noFill/>
          </a:ln>
        </p:spPr>
      </p:pic>
      <p:pic>
        <p:nvPicPr>
          <p:cNvPr id="198" name="Google Shape;198;p24"/>
          <p:cNvPicPr preferRelativeResize="0"/>
          <p:nvPr/>
        </p:nvPicPr>
        <p:blipFill>
          <a:blip r:embed="rId4">
            <a:alphaModFix/>
          </a:blip>
          <a:stretch>
            <a:fillRect/>
          </a:stretch>
        </p:blipFill>
        <p:spPr>
          <a:xfrm>
            <a:off x="5140772" y="3760768"/>
            <a:ext cx="2561025" cy="1056687"/>
          </a:xfrm>
          <a:prstGeom prst="rect">
            <a:avLst/>
          </a:prstGeom>
          <a:noFill/>
          <a:ln>
            <a:noFill/>
          </a:ln>
        </p:spPr>
      </p:pic>
      <p:sp>
        <p:nvSpPr>
          <p:cNvPr id="199" name="Google Shape;199;p24"/>
          <p:cNvSpPr txBox="1"/>
          <p:nvPr/>
        </p:nvSpPr>
        <p:spPr>
          <a:xfrm>
            <a:off x="787373" y="1291124"/>
            <a:ext cx="10522200" cy="4722600"/>
          </a:xfrm>
          <a:prstGeom prst="rect">
            <a:avLst/>
          </a:prstGeom>
          <a:noFill/>
          <a:ln>
            <a:noFill/>
          </a:ln>
        </p:spPr>
        <p:txBody>
          <a:bodyPr anchorCtr="0" anchor="t" bIns="132000" lIns="132000" spcFirstLastPara="1" rIns="132000" wrap="square" tIns="132000">
            <a:noAutofit/>
          </a:bodyPr>
          <a:lstStyle/>
          <a:p>
            <a:pPr indent="0" lvl="0" marL="0" rtl="0" algn="l">
              <a:spcBef>
                <a:spcPts val="0"/>
              </a:spcBef>
              <a:spcAft>
                <a:spcPts val="0"/>
              </a:spcAft>
              <a:buNone/>
            </a:pPr>
            <a:r>
              <a:t/>
            </a:r>
            <a:endParaRPr sz="2021">
              <a:solidFill>
                <a:srgbClr val="434343"/>
              </a:solidFill>
              <a:latin typeface="Questrial"/>
              <a:ea typeface="Questrial"/>
              <a:cs typeface="Questrial"/>
              <a:sym typeface="Questrial"/>
            </a:endParaRPr>
          </a:p>
          <a:p>
            <a:pPr indent="0" lvl="0" marL="0" rtl="0" algn="l">
              <a:spcBef>
                <a:spcPts val="1444"/>
              </a:spcBef>
              <a:spcAft>
                <a:spcPts val="1444"/>
              </a:spcAft>
              <a:buNone/>
            </a:pPr>
            <a:r>
              <a:t/>
            </a:r>
            <a:endParaRPr sz="2021">
              <a:solidFill>
                <a:srgbClr val="434343"/>
              </a:solidFill>
              <a:latin typeface="Questrial"/>
              <a:ea typeface="Questrial"/>
              <a:cs typeface="Questrial"/>
              <a:sym typeface="Questrial"/>
            </a:endParaRPr>
          </a:p>
        </p:txBody>
      </p:sp>
      <p:sp>
        <p:nvSpPr>
          <p:cNvPr id="200" name="Google Shape;200;p24"/>
          <p:cNvSpPr txBox="1"/>
          <p:nvPr/>
        </p:nvSpPr>
        <p:spPr>
          <a:xfrm>
            <a:off x="477175" y="1204050"/>
            <a:ext cx="6601800" cy="5093400"/>
          </a:xfrm>
          <a:prstGeom prst="rect">
            <a:avLst/>
          </a:prstGeom>
          <a:noFill/>
          <a:ln>
            <a:noFill/>
          </a:ln>
        </p:spPr>
        <p:txBody>
          <a:bodyPr anchorCtr="0" anchor="t" bIns="126500" lIns="126500" spcFirstLastPara="1" rIns="126500" wrap="square" tIns="126500">
            <a:noAutofit/>
          </a:bodyPr>
          <a:lstStyle/>
          <a:p>
            <a:pPr indent="0" lvl="0" marL="0" rtl="0" algn="just">
              <a:spcBef>
                <a:spcPts val="0"/>
              </a:spcBef>
              <a:spcAft>
                <a:spcPts val="0"/>
              </a:spcAft>
              <a:buNone/>
            </a:pPr>
            <a:r>
              <a:rPr b="1" lang="en-US" sz="1937" u="sng">
                <a:solidFill>
                  <a:schemeClr val="dk1"/>
                </a:solidFill>
                <a:latin typeface="Times"/>
                <a:ea typeface="Times"/>
                <a:cs typeface="Times"/>
                <a:sym typeface="Times"/>
              </a:rPr>
              <a:t>Goal:</a:t>
            </a:r>
            <a:r>
              <a:rPr lang="en-US" sz="1937">
                <a:solidFill>
                  <a:schemeClr val="dk1"/>
                </a:solidFill>
                <a:latin typeface="Times"/>
                <a:ea typeface="Times"/>
                <a:cs typeface="Times"/>
                <a:sym typeface="Times"/>
              </a:rPr>
              <a:t> Produce MBE partial products for ac, −bd, ad, bc using modular blocks.</a:t>
            </a:r>
            <a:endParaRPr sz="1937">
              <a:solidFill>
                <a:schemeClr val="dk1"/>
              </a:solidFill>
              <a:latin typeface="Times"/>
              <a:ea typeface="Times"/>
              <a:cs typeface="Times"/>
              <a:sym typeface="Times"/>
            </a:endParaRPr>
          </a:p>
          <a:p>
            <a:pPr indent="0" lvl="0" marL="0" rtl="0" algn="just">
              <a:spcBef>
                <a:spcPts val="1384"/>
              </a:spcBef>
              <a:spcAft>
                <a:spcPts val="0"/>
              </a:spcAft>
              <a:buNone/>
            </a:pPr>
            <a:r>
              <a:rPr b="1" lang="en-US" sz="1937" u="sng">
                <a:solidFill>
                  <a:schemeClr val="dk1"/>
                </a:solidFill>
                <a:latin typeface="Times"/>
                <a:ea typeface="Times"/>
                <a:cs typeface="Times"/>
                <a:sym typeface="Times"/>
              </a:rPr>
              <a:t>Booth encoder</a:t>
            </a:r>
            <a:r>
              <a:rPr lang="en-US" sz="1937">
                <a:solidFill>
                  <a:schemeClr val="dk1"/>
                </a:solidFill>
                <a:latin typeface="Times"/>
                <a:ea typeface="Times"/>
                <a:cs typeface="Times"/>
                <a:sym typeface="Times"/>
              </a:rPr>
              <a:t>: Converts triplet: </a:t>
            </a:r>
            <a:endParaRPr sz="1937">
              <a:solidFill>
                <a:schemeClr val="dk1"/>
              </a:solidFill>
              <a:latin typeface="Times"/>
              <a:ea typeface="Times"/>
              <a:cs typeface="Times"/>
              <a:sym typeface="Times"/>
            </a:endParaRPr>
          </a:p>
          <a:p>
            <a:pPr indent="0" lvl="0" marL="0" rtl="0" algn="just">
              <a:lnSpc>
                <a:spcPct val="115000"/>
              </a:lnSpc>
              <a:spcBef>
                <a:spcPts val="0"/>
              </a:spcBef>
              <a:spcAft>
                <a:spcPts val="0"/>
              </a:spcAft>
              <a:buNone/>
            </a:pPr>
            <a:r>
              <a:rPr lang="en-US" sz="1937">
                <a:solidFill>
                  <a:schemeClr val="dk1"/>
                </a:solidFill>
                <a:latin typeface="Times"/>
                <a:ea typeface="Times"/>
                <a:cs typeface="Times"/>
                <a:sym typeface="Times"/>
              </a:rPr>
              <a:t>{a</a:t>
            </a:r>
            <a:r>
              <a:rPr baseline="-25000" lang="en-US" sz="1937">
                <a:solidFill>
                  <a:schemeClr val="dk1"/>
                </a:solidFill>
                <a:latin typeface="Times"/>
                <a:ea typeface="Times"/>
                <a:cs typeface="Times"/>
                <a:sym typeface="Times"/>
              </a:rPr>
              <a:t>{2m+1},</a:t>
            </a:r>
            <a:r>
              <a:rPr lang="en-US" sz="1937">
                <a:solidFill>
                  <a:schemeClr val="dk1"/>
                </a:solidFill>
                <a:latin typeface="Times"/>
                <a:ea typeface="Times"/>
                <a:cs typeface="Times"/>
                <a:sym typeface="Times"/>
              </a:rPr>
              <a:t>, a</a:t>
            </a:r>
            <a:r>
              <a:rPr baseline="-25000" lang="en-US" sz="1937">
                <a:solidFill>
                  <a:schemeClr val="dk1"/>
                </a:solidFill>
                <a:latin typeface="Times"/>
                <a:ea typeface="Times"/>
                <a:cs typeface="Times"/>
                <a:sym typeface="Times"/>
              </a:rPr>
              <a:t>{2m}</a:t>
            </a:r>
            <a:r>
              <a:rPr lang="en-US" sz="1937">
                <a:solidFill>
                  <a:schemeClr val="dk1"/>
                </a:solidFill>
                <a:latin typeface="Times"/>
                <a:ea typeface="Times"/>
                <a:cs typeface="Times"/>
                <a:sym typeface="Times"/>
              </a:rPr>
              <a:t>, a</a:t>
            </a:r>
            <a:r>
              <a:rPr baseline="-25000" lang="en-US" sz="1937">
                <a:solidFill>
                  <a:schemeClr val="dk1"/>
                </a:solidFill>
                <a:latin typeface="Times"/>
                <a:ea typeface="Times"/>
                <a:cs typeface="Times"/>
                <a:sym typeface="Times"/>
              </a:rPr>
              <a:t>{2m−1}</a:t>
            </a:r>
            <a:r>
              <a:rPr lang="en-US" sz="1937">
                <a:solidFill>
                  <a:schemeClr val="dk1"/>
                </a:solidFill>
                <a:latin typeface="Times"/>
                <a:ea typeface="Times"/>
                <a:cs typeface="Times"/>
                <a:sym typeface="Times"/>
              </a:rPr>
              <a:t>} → (neg</a:t>
            </a:r>
            <a:r>
              <a:rPr baseline="-25000" lang="en-US" sz="1937">
                <a:solidFill>
                  <a:schemeClr val="dk1"/>
                </a:solidFill>
                <a:latin typeface="Times"/>
                <a:ea typeface="Times"/>
                <a:cs typeface="Times"/>
                <a:sym typeface="Times"/>
              </a:rPr>
              <a:t>m</a:t>
            </a:r>
            <a:r>
              <a:rPr lang="en-US" sz="1937">
                <a:solidFill>
                  <a:schemeClr val="dk1"/>
                </a:solidFill>
                <a:latin typeface="Times"/>
                <a:ea typeface="Times"/>
                <a:cs typeface="Times"/>
                <a:sym typeface="Times"/>
              </a:rPr>
              <a:t>, one</a:t>
            </a:r>
            <a:r>
              <a:rPr baseline="-25000" lang="en-US" sz="1937">
                <a:solidFill>
                  <a:schemeClr val="dk1"/>
                </a:solidFill>
                <a:latin typeface="Times"/>
                <a:ea typeface="Times"/>
                <a:cs typeface="Times"/>
                <a:sym typeface="Times"/>
              </a:rPr>
              <a:t>m</a:t>
            </a:r>
            <a:r>
              <a:rPr lang="en-US" sz="1937">
                <a:solidFill>
                  <a:schemeClr val="dk1"/>
                </a:solidFill>
                <a:latin typeface="Times"/>
                <a:ea typeface="Times"/>
                <a:cs typeface="Times"/>
                <a:sym typeface="Times"/>
              </a:rPr>
              <a:t>, two</a:t>
            </a:r>
            <a:r>
              <a:rPr baseline="-25000" lang="en-US" sz="1937">
                <a:solidFill>
                  <a:schemeClr val="dk1"/>
                </a:solidFill>
                <a:latin typeface="Times"/>
                <a:ea typeface="Times"/>
                <a:cs typeface="Times"/>
                <a:sym typeface="Times"/>
              </a:rPr>
              <a:t>m</a:t>
            </a:r>
            <a:r>
              <a:rPr lang="en-US" sz="1937">
                <a:solidFill>
                  <a:schemeClr val="dk1"/>
                </a:solidFill>
                <a:latin typeface="Times"/>
                <a:ea typeface="Times"/>
                <a:cs typeface="Times"/>
                <a:sym typeface="Times"/>
              </a:rPr>
              <a:t>). </a:t>
            </a:r>
            <a:endParaRPr sz="1937">
              <a:solidFill>
                <a:schemeClr val="dk1"/>
              </a:solidFill>
              <a:latin typeface="Times"/>
              <a:ea typeface="Times"/>
              <a:cs typeface="Times"/>
              <a:sym typeface="Times"/>
            </a:endParaRPr>
          </a:p>
          <a:p>
            <a:pPr indent="0" lvl="0" marL="0" rtl="0" algn="just">
              <a:spcBef>
                <a:spcPts val="0"/>
              </a:spcBef>
              <a:spcAft>
                <a:spcPts val="0"/>
              </a:spcAft>
              <a:buNone/>
            </a:pPr>
            <a:r>
              <a:rPr lang="en-US" sz="1937">
                <a:solidFill>
                  <a:schemeClr val="dk1"/>
                </a:solidFill>
                <a:latin typeface="Times"/>
                <a:ea typeface="Times"/>
                <a:cs typeface="Times"/>
                <a:sym typeface="Times"/>
              </a:rPr>
              <a:t>Two identical encoders: one for a, one for b.</a:t>
            </a:r>
            <a:endParaRPr sz="1937">
              <a:solidFill>
                <a:schemeClr val="dk1"/>
              </a:solidFill>
              <a:latin typeface="Times"/>
              <a:ea typeface="Times"/>
              <a:cs typeface="Times"/>
              <a:sym typeface="Times"/>
            </a:endParaRPr>
          </a:p>
          <a:p>
            <a:pPr indent="0" lvl="0" marL="0" rtl="0" algn="just">
              <a:spcBef>
                <a:spcPts val="1384"/>
              </a:spcBef>
              <a:spcAft>
                <a:spcPts val="0"/>
              </a:spcAft>
              <a:buNone/>
            </a:pPr>
            <a:r>
              <a:rPr b="1" lang="en-US" sz="1937" u="sng">
                <a:solidFill>
                  <a:schemeClr val="dk1"/>
                </a:solidFill>
                <a:latin typeface="Times"/>
                <a:ea typeface="Times"/>
                <a:cs typeface="Times"/>
                <a:sym typeface="Times"/>
              </a:rPr>
              <a:t>PPG</a:t>
            </a:r>
            <a:r>
              <a:rPr b="1" lang="en-US" sz="1937">
                <a:solidFill>
                  <a:schemeClr val="dk1"/>
                </a:solidFill>
                <a:latin typeface="Times"/>
                <a:ea typeface="Times"/>
                <a:cs typeface="Times"/>
                <a:sym typeface="Times"/>
              </a:rPr>
              <a:t>:</a:t>
            </a:r>
            <a:r>
              <a:rPr lang="en-US" sz="1937">
                <a:solidFill>
                  <a:schemeClr val="dk1"/>
                </a:solidFill>
                <a:latin typeface="Times"/>
                <a:ea typeface="Times"/>
                <a:cs typeface="Times"/>
                <a:sym typeface="Times"/>
              </a:rPr>
              <a:t> Outputs p</a:t>
            </a:r>
            <a:r>
              <a:rPr baseline="-25000" lang="en-US" sz="1937">
                <a:solidFill>
                  <a:schemeClr val="dk1"/>
                </a:solidFill>
                <a:latin typeface="Times"/>
                <a:ea typeface="Times"/>
                <a:cs typeface="Times"/>
                <a:sym typeface="Times"/>
              </a:rPr>
              <a:t>{m,n}</a:t>
            </a:r>
            <a:r>
              <a:rPr lang="en-US" sz="1937">
                <a:solidFill>
                  <a:schemeClr val="dk1"/>
                </a:solidFill>
                <a:latin typeface="Times"/>
                <a:ea typeface="Times"/>
                <a:cs typeface="Times"/>
                <a:sym typeface="Times"/>
              </a:rPr>
              <a:t> from operand bit d</a:t>
            </a:r>
            <a:r>
              <a:rPr baseline="-25000" lang="en-US" sz="1937">
                <a:solidFill>
                  <a:schemeClr val="dk1"/>
                </a:solidFill>
                <a:latin typeface="Times"/>
                <a:ea typeface="Times"/>
                <a:cs typeface="Times"/>
                <a:sym typeface="Times"/>
              </a:rPr>
              <a:t>m</a:t>
            </a:r>
            <a:r>
              <a:rPr lang="en-US" sz="1937">
                <a:solidFill>
                  <a:schemeClr val="dk1"/>
                </a:solidFill>
                <a:latin typeface="Times"/>
                <a:ea typeface="Times"/>
                <a:cs typeface="Times"/>
                <a:sym typeface="Times"/>
              </a:rPr>
              <a:t> and control bits neg</a:t>
            </a:r>
            <a:r>
              <a:rPr baseline="-25000" lang="en-US" sz="1937">
                <a:solidFill>
                  <a:schemeClr val="dk1"/>
                </a:solidFill>
                <a:latin typeface="Times"/>
                <a:ea typeface="Times"/>
                <a:cs typeface="Times"/>
                <a:sym typeface="Times"/>
              </a:rPr>
              <a:t>m</a:t>
            </a:r>
            <a:r>
              <a:rPr lang="en-US" sz="1937">
                <a:solidFill>
                  <a:schemeClr val="dk1"/>
                </a:solidFill>
                <a:latin typeface="Times"/>
                <a:ea typeface="Times"/>
                <a:cs typeface="Times"/>
                <a:sym typeface="Times"/>
              </a:rPr>
              <a:t>, one</a:t>
            </a:r>
            <a:r>
              <a:rPr baseline="-25000" lang="en-US" sz="1937">
                <a:solidFill>
                  <a:schemeClr val="dk1"/>
                </a:solidFill>
                <a:latin typeface="Times"/>
                <a:ea typeface="Times"/>
                <a:cs typeface="Times"/>
                <a:sym typeface="Times"/>
              </a:rPr>
              <a:t>m</a:t>
            </a:r>
            <a:r>
              <a:rPr lang="en-US" sz="1937">
                <a:solidFill>
                  <a:schemeClr val="dk1"/>
                </a:solidFill>
                <a:latin typeface="Times"/>
                <a:ea typeface="Times"/>
                <a:cs typeface="Times"/>
                <a:sym typeface="Times"/>
              </a:rPr>
              <a:t>, two</a:t>
            </a:r>
            <a:r>
              <a:rPr baseline="-25000" lang="en-US" sz="1937">
                <a:solidFill>
                  <a:schemeClr val="dk1"/>
                </a:solidFill>
                <a:latin typeface="Times"/>
                <a:ea typeface="Times"/>
                <a:cs typeface="Times"/>
                <a:sym typeface="Times"/>
              </a:rPr>
              <a:t>m</a:t>
            </a:r>
            <a:r>
              <a:rPr lang="en-US" sz="1937">
                <a:solidFill>
                  <a:schemeClr val="dk1"/>
                </a:solidFill>
                <a:latin typeface="Times"/>
                <a:ea typeface="Times"/>
                <a:cs typeface="Times"/>
                <a:sym typeface="Times"/>
              </a:rPr>
              <a:t>. Gate cost: 1 XNOR, 2 OR, 1 NAND.</a:t>
            </a:r>
            <a:endParaRPr sz="1937">
              <a:solidFill>
                <a:schemeClr val="dk1"/>
              </a:solidFill>
              <a:latin typeface="Times"/>
              <a:ea typeface="Times"/>
              <a:cs typeface="Times"/>
              <a:sym typeface="Times"/>
            </a:endParaRPr>
          </a:p>
          <a:p>
            <a:pPr indent="0" lvl="0" marL="0" rtl="0" algn="just">
              <a:spcBef>
                <a:spcPts val="1384"/>
              </a:spcBef>
              <a:spcAft>
                <a:spcPts val="0"/>
              </a:spcAft>
              <a:buNone/>
            </a:pPr>
            <a:r>
              <a:rPr b="1" lang="en-US" sz="1937" u="sng">
                <a:solidFill>
                  <a:schemeClr val="dk1"/>
                </a:solidFill>
                <a:latin typeface="Times"/>
                <a:ea typeface="Times"/>
                <a:cs typeface="Times"/>
                <a:sym typeface="Times"/>
              </a:rPr>
              <a:t>Indices</a:t>
            </a:r>
            <a:r>
              <a:rPr b="1" lang="en-US" sz="1937">
                <a:solidFill>
                  <a:schemeClr val="dk1"/>
                </a:solidFill>
                <a:latin typeface="Times"/>
                <a:ea typeface="Times"/>
                <a:cs typeface="Times"/>
                <a:sym typeface="Times"/>
              </a:rPr>
              <a:t>: </a:t>
            </a:r>
            <a:r>
              <a:rPr lang="en-US" sz="1937">
                <a:solidFill>
                  <a:schemeClr val="dk1"/>
                </a:solidFill>
                <a:latin typeface="Times"/>
                <a:ea typeface="Times"/>
                <a:cs typeface="Times"/>
                <a:sym typeface="Times"/>
              </a:rPr>
              <a:t>m = 0, …, M/2−1, n = 1, …, M−1.</a:t>
            </a:r>
            <a:endParaRPr sz="1937">
              <a:solidFill>
                <a:schemeClr val="dk1"/>
              </a:solidFill>
              <a:latin typeface="Times"/>
              <a:ea typeface="Times"/>
              <a:cs typeface="Times"/>
              <a:sym typeface="Times"/>
            </a:endParaRPr>
          </a:p>
          <a:p>
            <a:pPr indent="0" lvl="0" marL="0" rtl="0" algn="just">
              <a:spcBef>
                <a:spcPts val="1384"/>
              </a:spcBef>
              <a:spcAft>
                <a:spcPts val="0"/>
              </a:spcAft>
              <a:buNone/>
            </a:pPr>
            <a:r>
              <a:rPr b="1" lang="en-US" sz="1937" u="sng">
                <a:solidFill>
                  <a:schemeClr val="dk1"/>
                </a:solidFill>
                <a:latin typeface="Times"/>
                <a:ea typeface="Times"/>
                <a:cs typeface="Times"/>
                <a:sym typeface="Times"/>
              </a:rPr>
              <a:t>Reuse &amp; sign</a:t>
            </a:r>
            <a:r>
              <a:rPr b="1" lang="en-US" sz="1937">
                <a:solidFill>
                  <a:schemeClr val="dk1"/>
                </a:solidFill>
                <a:latin typeface="Times"/>
                <a:ea typeface="Times"/>
                <a:cs typeface="Times"/>
                <a:sym typeface="Times"/>
              </a:rPr>
              <a:t>:</a:t>
            </a:r>
            <a:r>
              <a:rPr lang="en-US" sz="1937">
                <a:solidFill>
                  <a:schemeClr val="dk1"/>
                </a:solidFill>
                <a:latin typeface="Times"/>
                <a:ea typeface="Times"/>
                <a:cs typeface="Times"/>
                <a:sym typeface="Times"/>
              </a:rPr>
              <a:t> Same encoder + PPG cells generate all partials; use an NPPG variant to produce negative partial products (e.g., −bd).</a:t>
            </a:r>
            <a:endParaRPr sz="1937">
              <a:solidFill>
                <a:schemeClr val="dk1"/>
              </a:solidFill>
              <a:latin typeface="Times"/>
              <a:ea typeface="Times"/>
              <a:cs typeface="Times"/>
              <a:sym typeface="Times"/>
            </a:endParaRPr>
          </a:p>
          <a:p>
            <a:pPr indent="0" lvl="0" marL="0" rtl="0" algn="just">
              <a:spcBef>
                <a:spcPts val="1384"/>
              </a:spcBef>
              <a:spcAft>
                <a:spcPts val="0"/>
              </a:spcAft>
              <a:buNone/>
            </a:pPr>
            <a:r>
              <a:rPr b="1" lang="en-US" sz="1937" u="sng">
                <a:solidFill>
                  <a:schemeClr val="dk1"/>
                </a:solidFill>
                <a:latin typeface="Times"/>
                <a:ea typeface="Times"/>
                <a:cs typeface="Times"/>
                <a:sym typeface="Times"/>
              </a:rPr>
              <a:t>Takeaway</a:t>
            </a:r>
            <a:r>
              <a:rPr b="1" lang="en-US" sz="1937">
                <a:solidFill>
                  <a:schemeClr val="dk1"/>
                </a:solidFill>
                <a:latin typeface="Times"/>
                <a:ea typeface="Times"/>
                <a:cs typeface="Times"/>
                <a:sym typeface="Times"/>
              </a:rPr>
              <a:t>:</a:t>
            </a:r>
            <a:r>
              <a:rPr lang="en-US" sz="1937">
                <a:solidFill>
                  <a:schemeClr val="dk1"/>
                </a:solidFill>
                <a:latin typeface="Times"/>
                <a:ea typeface="Times"/>
                <a:cs typeface="Times"/>
                <a:sym typeface="Times"/>
              </a:rPr>
              <a:t> Small, identical Booth‑encoder and PPG sections enable an efficient, reusable radix‑4 MBE multiplier.</a:t>
            </a:r>
            <a:endParaRPr sz="1937">
              <a:solidFill>
                <a:schemeClr val="dk1"/>
              </a:solidFill>
              <a:latin typeface="Times"/>
              <a:ea typeface="Times"/>
              <a:cs typeface="Times"/>
              <a:sym typeface="Times"/>
            </a:endParaRPr>
          </a:p>
          <a:p>
            <a:pPr indent="0" lvl="0" marL="0" rtl="0" algn="l">
              <a:spcBef>
                <a:spcPts val="1384"/>
              </a:spcBef>
              <a:spcAft>
                <a:spcPts val="1384"/>
              </a:spcAft>
              <a:buNone/>
            </a:pPr>
            <a:r>
              <a:t/>
            </a:r>
            <a:endParaRPr sz="1937">
              <a:solidFill>
                <a:srgbClr val="434343"/>
              </a:solidFill>
              <a:latin typeface="Questrial"/>
              <a:ea typeface="Questrial"/>
              <a:cs typeface="Questrial"/>
              <a:sym typeface="Questrial"/>
            </a:endParaRPr>
          </a:p>
        </p:txBody>
      </p:sp>
      <p:pic>
        <p:nvPicPr>
          <p:cNvPr id="201" name="Google Shape;201;p24"/>
          <p:cNvPicPr preferRelativeResize="0"/>
          <p:nvPr/>
        </p:nvPicPr>
        <p:blipFill>
          <a:blip r:embed="rId5">
            <a:alphaModFix/>
          </a:blip>
          <a:stretch>
            <a:fillRect/>
          </a:stretch>
        </p:blipFill>
        <p:spPr>
          <a:xfrm>
            <a:off x="7432325" y="1072613"/>
            <a:ext cx="4114800" cy="53562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5"/>
          <p:cNvSpPr txBox="1"/>
          <p:nvPr>
            <p:ph type="title"/>
          </p:nvPr>
        </p:nvSpPr>
        <p:spPr>
          <a:xfrm>
            <a:off x="240872" y="202991"/>
            <a:ext cx="9389440" cy="55458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alibri"/>
              <a:buNone/>
            </a:pPr>
            <a:r>
              <a:rPr lang="en-US"/>
              <a:t>Simulation Results</a:t>
            </a:r>
            <a:endParaRPr/>
          </a:p>
        </p:txBody>
      </p:sp>
      <p:pic>
        <p:nvPicPr>
          <p:cNvPr id="207" name="Google Shape;207;p25"/>
          <p:cNvPicPr preferRelativeResize="0"/>
          <p:nvPr/>
        </p:nvPicPr>
        <p:blipFill>
          <a:blip r:embed="rId3">
            <a:alphaModFix/>
          </a:blip>
          <a:stretch>
            <a:fillRect/>
          </a:stretch>
        </p:blipFill>
        <p:spPr>
          <a:xfrm>
            <a:off x="152400" y="4059394"/>
            <a:ext cx="11887200" cy="2135981"/>
          </a:xfrm>
          <a:prstGeom prst="rect">
            <a:avLst/>
          </a:prstGeom>
          <a:noFill/>
          <a:ln>
            <a:noFill/>
          </a:ln>
        </p:spPr>
      </p:pic>
      <p:sp>
        <p:nvSpPr>
          <p:cNvPr id="208" name="Google Shape;208;p25"/>
          <p:cNvSpPr txBox="1"/>
          <p:nvPr/>
        </p:nvSpPr>
        <p:spPr>
          <a:xfrm>
            <a:off x="5191150" y="2017850"/>
            <a:ext cx="1054200" cy="6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200" u="sng">
                <a:solidFill>
                  <a:schemeClr val="dk1"/>
                </a:solidFill>
                <a:latin typeface="Calibri"/>
                <a:ea typeface="Calibri"/>
                <a:cs typeface="Calibri"/>
                <a:sym typeface="Calibri"/>
              </a:rPr>
              <a:t>M=8</a:t>
            </a:r>
            <a:endParaRPr b="1" sz="2200" u="sng">
              <a:solidFill>
                <a:schemeClr val="dk1"/>
              </a:solidFill>
              <a:latin typeface="Calibri"/>
              <a:ea typeface="Calibri"/>
              <a:cs typeface="Calibri"/>
              <a:sym typeface="Calibri"/>
            </a:endParaRPr>
          </a:p>
        </p:txBody>
      </p:sp>
      <p:sp>
        <p:nvSpPr>
          <p:cNvPr id="209" name="Google Shape;209;p25"/>
          <p:cNvSpPr txBox="1"/>
          <p:nvPr/>
        </p:nvSpPr>
        <p:spPr>
          <a:xfrm>
            <a:off x="294450" y="1144738"/>
            <a:ext cx="11603100" cy="1017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737">
                <a:solidFill>
                  <a:schemeClr val="dk1"/>
                </a:solidFill>
                <a:latin typeface="Times"/>
                <a:ea typeface="Times"/>
                <a:cs typeface="Times"/>
                <a:sym typeface="Times"/>
              </a:rPr>
              <a:t>The simulation uses a parameterized, self-checking testbench that applies directed and randomized input vectors, computes the expected complex product using an internal golden model, and reports mismatches between expected and DUT outputs.</a:t>
            </a:r>
            <a:endParaRPr sz="1737">
              <a:solidFill>
                <a:schemeClr val="dk1"/>
              </a:solidFill>
              <a:latin typeface="Times"/>
              <a:ea typeface="Times"/>
              <a:cs typeface="Times"/>
              <a:sym typeface="Times"/>
            </a:endParaRPr>
          </a:p>
          <a:p>
            <a:pPr indent="0" lvl="0" marL="0" rtl="0" algn="l">
              <a:spcBef>
                <a:spcPts val="0"/>
              </a:spcBef>
              <a:spcAft>
                <a:spcPts val="0"/>
              </a:spcAft>
              <a:buNone/>
            </a:pPr>
            <a:r>
              <a:t/>
            </a:r>
            <a:endParaRPr sz="1937">
              <a:solidFill>
                <a:schemeClr val="dk1"/>
              </a:solidFill>
              <a:latin typeface="Times"/>
              <a:ea typeface="Times"/>
              <a:cs typeface="Times"/>
              <a:sym typeface="Times"/>
            </a:endParaRPr>
          </a:p>
        </p:txBody>
      </p:sp>
      <p:pic>
        <p:nvPicPr>
          <p:cNvPr id="210" name="Google Shape;210;p25"/>
          <p:cNvPicPr preferRelativeResize="0"/>
          <p:nvPr/>
        </p:nvPicPr>
        <p:blipFill>
          <a:blip r:embed="rId4">
            <a:alphaModFix/>
          </a:blip>
          <a:stretch>
            <a:fillRect/>
          </a:stretch>
        </p:blipFill>
        <p:spPr>
          <a:xfrm>
            <a:off x="3113624" y="2549500"/>
            <a:ext cx="5209249" cy="14296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6"/>
          <p:cNvSpPr txBox="1"/>
          <p:nvPr>
            <p:ph type="title"/>
          </p:nvPr>
        </p:nvSpPr>
        <p:spPr>
          <a:xfrm>
            <a:off x="240872" y="202991"/>
            <a:ext cx="9389400" cy="554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alibri"/>
              <a:buNone/>
            </a:pPr>
            <a:r>
              <a:rPr lang="en-US"/>
              <a:t>Simulation Results (Continued)</a:t>
            </a:r>
            <a:endParaRPr/>
          </a:p>
        </p:txBody>
      </p:sp>
      <p:sp>
        <p:nvSpPr>
          <p:cNvPr id="216" name="Google Shape;216;p26"/>
          <p:cNvSpPr txBox="1"/>
          <p:nvPr/>
        </p:nvSpPr>
        <p:spPr>
          <a:xfrm>
            <a:off x="5568900" y="3698175"/>
            <a:ext cx="1054200" cy="6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200" u="sng">
                <a:solidFill>
                  <a:schemeClr val="dk1"/>
                </a:solidFill>
                <a:latin typeface="Calibri"/>
                <a:ea typeface="Calibri"/>
                <a:cs typeface="Calibri"/>
                <a:sym typeface="Calibri"/>
              </a:rPr>
              <a:t>M = 32</a:t>
            </a:r>
            <a:endParaRPr b="1" sz="2200" u="sng">
              <a:solidFill>
                <a:schemeClr val="dk1"/>
              </a:solidFill>
              <a:latin typeface="Calibri"/>
              <a:ea typeface="Calibri"/>
              <a:cs typeface="Calibri"/>
              <a:sym typeface="Calibri"/>
            </a:endParaRPr>
          </a:p>
        </p:txBody>
      </p:sp>
      <p:pic>
        <p:nvPicPr>
          <p:cNvPr id="217" name="Google Shape;217;p26"/>
          <p:cNvPicPr preferRelativeResize="0"/>
          <p:nvPr/>
        </p:nvPicPr>
        <p:blipFill>
          <a:blip r:embed="rId3">
            <a:alphaModFix/>
          </a:blip>
          <a:stretch>
            <a:fillRect/>
          </a:stretch>
        </p:blipFill>
        <p:spPr>
          <a:xfrm>
            <a:off x="152400" y="4157275"/>
            <a:ext cx="11887200" cy="2200989"/>
          </a:xfrm>
          <a:prstGeom prst="rect">
            <a:avLst/>
          </a:prstGeom>
          <a:noFill/>
          <a:ln>
            <a:noFill/>
          </a:ln>
        </p:spPr>
      </p:pic>
      <p:pic>
        <p:nvPicPr>
          <p:cNvPr id="218" name="Google Shape;218;p26"/>
          <p:cNvPicPr preferRelativeResize="0"/>
          <p:nvPr/>
        </p:nvPicPr>
        <p:blipFill>
          <a:blip r:embed="rId4">
            <a:alphaModFix/>
          </a:blip>
          <a:stretch>
            <a:fillRect/>
          </a:stretch>
        </p:blipFill>
        <p:spPr>
          <a:xfrm>
            <a:off x="152400" y="1525050"/>
            <a:ext cx="11887200" cy="2173129"/>
          </a:xfrm>
          <a:prstGeom prst="rect">
            <a:avLst/>
          </a:prstGeom>
          <a:noFill/>
          <a:ln>
            <a:noFill/>
          </a:ln>
        </p:spPr>
      </p:pic>
      <p:sp>
        <p:nvSpPr>
          <p:cNvPr id="219" name="Google Shape;219;p26"/>
          <p:cNvSpPr txBox="1"/>
          <p:nvPr/>
        </p:nvSpPr>
        <p:spPr>
          <a:xfrm>
            <a:off x="5568900" y="1065050"/>
            <a:ext cx="1054200" cy="6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200" u="sng">
                <a:solidFill>
                  <a:schemeClr val="dk1"/>
                </a:solidFill>
                <a:latin typeface="Calibri"/>
                <a:ea typeface="Calibri"/>
                <a:cs typeface="Calibri"/>
                <a:sym typeface="Calibri"/>
              </a:rPr>
              <a:t>M = 16</a:t>
            </a:r>
            <a:endParaRPr b="1" sz="2200" u="sng">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7"/>
          <p:cNvSpPr txBox="1"/>
          <p:nvPr>
            <p:ph type="title"/>
          </p:nvPr>
        </p:nvSpPr>
        <p:spPr>
          <a:xfrm>
            <a:off x="240872" y="202991"/>
            <a:ext cx="9389440" cy="55458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alibri"/>
              <a:buNone/>
            </a:pPr>
            <a:r>
              <a:rPr lang="en-US"/>
              <a:t>FPGA implementation (M = 8 bits)</a:t>
            </a:r>
            <a:endParaRPr/>
          </a:p>
        </p:txBody>
      </p:sp>
      <p:sp>
        <p:nvSpPr>
          <p:cNvPr id="225" name="Google Shape;225;p27"/>
          <p:cNvSpPr txBox="1"/>
          <p:nvPr/>
        </p:nvSpPr>
        <p:spPr>
          <a:xfrm>
            <a:off x="348450" y="1177075"/>
            <a:ext cx="11495100" cy="205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737">
                <a:solidFill>
                  <a:schemeClr val="dk1"/>
                </a:solidFill>
                <a:latin typeface="Times"/>
                <a:ea typeface="Times"/>
                <a:cs typeface="Times"/>
                <a:sym typeface="Times"/>
              </a:rPr>
              <a:t>The 8-bit complex multiplier was deployed on a </a:t>
            </a:r>
            <a:r>
              <a:rPr b="1" lang="en-US" sz="1737">
                <a:solidFill>
                  <a:schemeClr val="dk1"/>
                </a:solidFill>
                <a:latin typeface="Times"/>
                <a:ea typeface="Times"/>
                <a:cs typeface="Times"/>
                <a:sym typeface="Times"/>
              </a:rPr>
              <a:t>Zynq-7000 FPGA</a:t>
            </a:r>
            <a:r>
              <a:rPr lang="en-US" sz="1737">
                <a:solidFill>
                  <a:schemeClr val="dk1"/>
                </a:solidFill>
                <a:latin typeface="Times"/>
                <a:ea typeface="Times"/>
                <a:cs typeface="Times"/>
                <a:sym typeface="Times"/>
              </a:rPr>
              <a:t> using a Vivado block design with a </a:t>
            </a:r>
            <a:r>
              <a:rPr lang="en-US" sz="1737" u="sng">
                <a:solidFill>
                  <a:schemeClr val="dk1"/>
                </a:solidFill>
                <a:latin typeface="Times"/>
                <a:ea typeface="Times"/>
                <a:cs typeface="Times"/>
                <a:sym typeface="Times"/>
              </a:rPr>
              <a:t>VIO (Virtual Input/Output)</a:t>
            </a:r>
            <a:r>
              <a:rPr lang="en-US" sz="1737">
                <a:solidFill>
                  <a:schemeClr val="dk1"/>
                </a:solidFill>
                <a:latin typeface="Times"/>
                <a:ea typeface="Times"/>
                <a:cs typeface="Times"/>
                <a:sym typeface="Times"/>
              </a:rPr>
              <a:t> core. The VIO allowed us to drive inputs </a:t>
            </a:r>
            <a:r>
              <a:rPr i="1" lang="en-US" sz="1737">
                <a:solidFill>
                  <a:schemeClr val="dk1"/>
                </a:solidFill>
                <a:latin typeface="Times"/>
                <a:ea typeface="Times"/>
                <a:cs typeface="Times"/>
                <a:sym typeface="Times"/>
              </a:rPr>
              <a:t>a, b, c,</a:t>
            </a:r>
            <a:r>
              <a:rPr lang="en-US" sz="1737">
                <a:solidFill>
                  <a:schemeClr val="dk1"/>
                </a:solidFill>
                <a:latin typeface="Times"/>
                <a:ea typeface="Times"/>
                <a:cs typeface="Times"/>
                <a:sym typeface="Times"/>
              </a:rPr>
              <a:t> and </a:t>
            </a:r>
            <a:r>
              <a:rPr i="1" lang="en-US" sz="1737">
                <a:solidFill>
                  <a:schemeClr val="dk1"/>
                </a:solidFill>
                <a:latin typeface="Times"/>
                <a:ea typeface="Times"/>
                <a:cs typeface="Times"/>
                <a:sym typeface="Times"/>
              </a:rPr>
              <a:t>d</a:t>
            </a:r>
            <a:r>
              <a:rPr lang="en-US" sz="1737">
                <a:solidFill>
                  <a:schemeClr val="dk1"/>
                </a:solidFill>
                <a:latin typeface="Times"/>
                <a:ea typeface="Times"/>
                <a:cs typeface="Times"/>
                <a:sym typeface="Times"/>
              </a:rPr>
              <a:t> directly from the GUI and observe real part (</a:t>
            </a:r>
            <a:r>
              <a:rPr i="1" lang="en-US" sz="1737">
                <a:solidFill>
                  <a:schemeClr val="dk1"/>
                </a:solidFill>
                <a:latin typeface="Times"/>
                <a:ea typeface="Times"/>
                <a:cs typeface="Times"/>
                <a:sym typeface="Times"/>
              </a:rPr>
              <a:t>re_part</a:t>
            </a:r>
            <a:r>
              <a:rPr lang="en-US" sz="1737">
                <a:solidFill>
                  <a:schemeClr val="dk1"/>
                </a:solidFill>
                <a:latin typeface="Times"/>
                <a:ea typeface="Times"/>
                <a:cs typeface="Times"/>
                <a:sym typeface="Times"/>
              </a:rPr>
              <a:t>) and imaginary part (</a:t>
            </a:r>
            <a:r>
              <a:rPr i="1" lang="en-US" sz="1737">
                <a:solidFill>
                  <a:schemeClr val="dk1"/>
                </a:solidFill>
                <a:latin typeface="Times"/>
                <a:ea typeface="Times"/>
                <a:cs typeface="Times"/>
                <a:sym typeface="Times"/>
              </a:rPr>
              <a:t>im_part</a:t>
            </a:r>
            <a:r>
              <a:rPr lang="en-US" sz="1737">
                <a:solidFill>
                  <a:schemeClr val="dk1"/>
                </a:solidFill>
                <a:latin typeface="Times"/>
                <a:ea typeface="Times"/>
                <a:cs typeface="Times"/>
                <a:sym typeface="Times"/>
              </a:rPr>
              <a:t>) in real time. The VIO outputs were connected to the multiplier inputs, while the multiplier results were looped back into VIO probes for live monitoring. </a:t>
            </a:r>
            <a:endParaRPr sz="1737">
              <a:solidFill>
                <a:schemeClr val="dk1"/>
              </a:solidFill>
              <a:latin typeface="Times"/>
              <a:ea typeface="Times"/>
              <a:cs typeface="Times"/>
              <a:sym typeface="Times"/>
            </a:endParaRPr>
          </a:p>
          <a:p>
            <a:pPr indent="0" lvl="0" marL="0" rtl="0" algn="l">
              <a:spcBef>
                <a:spcPts val="0"/>
              </a:spcBef>
              <a:spcAft>
                <a:spcPts val="0"/>
              </a:spcAft>
              <a:buNone/>
            </a:pPr>
            <a:r>
              <a:t/>
            </a:r>
            <a:endParaRPr sz="1737">
              <a:solidFill>
                <a:schemeClr val="dk1"/>
              </a:solidFill>
              <a:latin typeface="Times"/>
              <a:ea typeface="Times"/>
              <a:cs typeface="Times"/>
              <a:sym typeface="Times"/>
            </a:endParaRPr>
          </a:p>
          <a:p>
            <a:pPr indent="0" lvl="0" marL="0" rtl="0" algn="l">
              <a:spcBef>
                <a:spcPts val="0"/>
              </a:spcBef>
              <a:spcAft>
                <a:spcPts val="0"/>
              </a:spcAft>
              <a:buNone/>
            </a:pPr>
            <a:r>
              <a:rPr lang="en-US" sz="1737">
                <a:solidFill>
                  <a:schemeClr val="dk1"/>
                </a:solidFill>
                <a:latin typeface="Times"/>
                <a:ea typeface="Times"/>
                <a:cs typeface="Times"/>
                <a:sym typeface="Times"/>
              </a:rPr>
              <a:t>This setup enabled rapid validation on hardware without any external switches, confirming correct functional behaviour for all tested values.</a:t>
            </a:r>
            <a:endParaRPr/>
          </a:p>
        </p:txBody>
      </p:sp>
      <p:pic>
        <p:nvPicPr>
          <p:cNvPr id="226" name="Google Shape;226;p27"/>
          <p:cNvPicPr preferRelativeResize="0"/>
          <p:nvPr/>
        </p:nvPicPr>
        <p:blipFill>
          <a:blip r:embed="rId3">
            <a:alphaModFix/>
          </a:blip>
          <a:stretch>
            <a:fillRect/>
          </a:stretch>
        </p:blipFill>
        <p:spPr>
          <a:xfrm>
            <a:off x="2564225" y="3141500"/>
            <a:ext cx="7063550" cy="31888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8"/>
          <p:cNvSpPr txBox="1"/>
          <p:nvPr>
            <p:ph type="title"/>
          </p:nvPr>
        </p:nvSpPr>
        <p:spPr>
          <a:xfrm>
            <a:off x="240872" y="202991"/>
            <a:ext cx="9389440" cy="55458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alibri"/>
              <a:buNone/>
            </a:pPr>
            <a:r>
              <a:rPr lang="en-US"/>
              <a:t>Comparison with other designs</a:t>
            </a:r>
            <a:endParaRPr/>
          </a:p>
        </p:txBody>
      </p:sp>
      <p:graphicFrame>
        <p:nvGraphicFramePr>
          <p:cNvPr id="232" name="Google Shape;232;p28"/>
          <p:cNvGraphicFramePr/>
          <p:nvPr/>
        </p:nvGraphicFramePr>
        <p:xfrm>
          <a:off x="6256688" y="2083250"/>
          <a:ext cx="3000000" cy="3000000"/>
        </p:xfrm>
        <a:graphic>
          <a:graphicData uri="http://schemas.openxmlformats.org/drawingml/2006/table">
            <a:tbl>
              <a:tblPr>
                <a:noFill/>
                <a:tableStyleId>{BD459078-12F2-40B4-83AB-1F0C04B91B1C}</a:tableStyleId>
              </a:tblPr>
              <a:tblGrid>
                <a:gridCol w="1950800"/>
                <a:gridCol w="1138800"/>
                <a:gridCol w="922350"/>
                <a:gridCol w="1167325"/>
              </a:tblGrid>
              <a:tr h="283600">
                <a:tc>
                  <a:txBody>
                    <a:bodyPr/>
                    <a:lstStyle/>
                    <a:p>
                      <a:pPr indent="0" lvl="0" marL="0" rtl="0" algn="ctr">
                        <a:spcBef>
                          <a:spcPts val="0"/>
                        </a:spcBef>
                        <a:spcAft>
                          <a:spcPts val="0"/>
                        </a:spcAft>
                        <a:buNone/>
                      </a:pPr>
                      <a:r>
                        <a:rPr b="1" lang="en-US"/>
                        <a:t>Architecture</a:t>
                      </a:r>
                      <a:endParaRPr b="1"/>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US"/>
                        <a:t>Word Length</a:t>
                      </a:r>
                      <a:endParaRPr b="1"/>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US"/>
                        <a:t>LUTs</a:t>
                      </a:r>
                      <a:endParaRPr b="1"/>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US"/>
                        <a:t>Power (mW)</a:t>
                      </a:r>
                      <a:endParaRPr b="1"/>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283600">
                <a:tc>
                  <a:txBody>
                    <a:bodyPr/>
                    <a:lstStyle/>
                    <a:p>
                      <a:pPr indent="0" lvl="0" marL="0" rtl="0" algn="l">
                        <a:spcBef>
                          <a:spcPts val="0"/>
                        </a:spcBef>
                        <a:spcAft>
                          <a:spcPts val="0"/>
                        </a:spcAft>
                        <a:buNone/>
                      </a:pPr>
                      <a:r>
                        <a:t/>
                      </a:r>
                      <a:endParaRPr/>
                    </a:p>
                  </a:txBody>
                  <a:tcPr marT="91425" marB="91425" marR="91425" marL="91425">
                    <a:lnR cap="flat" cmpd="sng" w="952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US"/>
                        <a:t>8</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US"/>
                        <a:t>401</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US"/>
                        <a:t>9</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83600">
                <a:tc>
                  <a:txBody>
                    <a:bodyPr/>
                    <a:lstStyle/>
                    <a:p>
                      <a:pPr indent="0" lvl="0" marL="0" rtl="0" algn="ctr">
                        <a:spcBef>
                          <a:spcPts val="0"/>
                        </a:spcBef>
                        <a:spcAft>
                          <a:spcPts val="0"/>
                        </a:spcAft>
                        <a:buNone/>
                      </a:pPr>
                      <a:r>
                        <a:rPr lang="en-US"/>
                        <a:t>Design of [4]</a:t>
                      </a:r>
                      <a:endParaRPr/>
                    </a:p>
                  </a:txBody>
                  <a:tcPr marT="91425" marB="91425" marR="91425" marL="91425">
                    <a:lnR cap="flat" cmpd="sng" w="9525">
                      <a:solidFill>
                        <a:schemeClr val="dk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US"/>
                        <a:t>16</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US"/>
                        <a:t>1678</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US"/>
                        <a:t>27</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83600">
                <a:tc>
                  <a:txBody>
                    <a:bodyPr/>
                    <a:lstStyle/>
                    <a:p>
                      <a:pPr indent="0" lvl="0" marL="0" rtl="0" algn="l">
                        <a:spcBef>
                          <a:spcPts val="0"/>
                        </a:spcBef>
                        <a:spcAft>
                          <a:spcPts val="0"/>
                        </a:spcAft>
                        <a:buNone/>
                      </a:pPr>
                      <a:r>
                        <a:t/>
                      </a:r>
                      <a:endParaRPr/>
                    </a:p>
                  </a:txBody>
                  <a:tcPr marT="91425" marB="91425" marR="91425" marL="91425">
                    <a:lnR cap="flat" cmpd="sng" w="9525">
                      <a:solidFill>
                        <a:schemeClr val="dk1"/>
                      </a:solidFill>
                      <a:prstDash val="solid"/>
                      <a:round/>
                      <a:headEnd len="sm" w="sm" type="none"/>
                      <a:tailEnd len="sm" w="sm" type="none"/>
                    </a:lnR>
                    <a:lnT cap="flat" cmpd="sng" w="9525">
                      <a:solidFill>
                        <a:schemeClr val="lt1"/>
                      </a:solidFill>
                      <a:prstDash val="solid"/>
                      <a:round/>
                      <a:headEnd len="sm" w="sm" type="none"/>
                      <a:tailEnd len="sm" w="sm" type="none"/>
                    </a:lnT>
                  </a:tcPr>
                </a:tc>
                <a:tc>
                  <a:txBody>
                    <a:bodyPr/>
                    <a:lstStyle/>
                    <a:p>
                      <a:pPr indent="0" lvl="0" marL="0" rtl="0" algn="ctr">
                        <a:spcBef>
                          <a:spcPts val="0"/>
                        </a:spcBef>
                        <a:spcAft>
                          <a:spcPts val="0"/>
                        </a:spcAft>
                        <a:buNone/>
                      </a:pPr>
                      <a:r>
                        <a:rPr lang="en-US"/>
                        <a:t>32</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US"/>
                        <a:t>5990</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US"/>
                        <a:t>55</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83600">
                <a:tc>
                  <a:txBody>
                    <a:bodyPr/>
                    <a:lstStyle/>
                    <a:p>
                      <a:pPr indent="0" lvl="0" marL="0" rtl="0" algn="l">
                        <a:spcBef>
                          <a:spcPts val="0"/>
                        </a:spcBef>
                        <a:spcAft>
                          <a:spcPts val="0"/>
                        </a:spcAft>
                        <a:buNone/>
                      </a:pPr>
                      <a:r>
                        <a:t/>
                      </a:r>
                      <a:endParaRPr/>
                    </a:p>
                  </a:txBody>
                  <a:tcPr marT="91425" marB="91425" marR="91425" marL="91425">
                    <a:lnR cap="flat" cmpd="sng" w="9525">
                      <a:solidFill>
                        <a:schemeClr val="dk1"/>
                      </a:solidFill>
                      <a:prstDash val="solid"/>
                      <a:round/>
                      <a:headEnd len="sm" w="sm" type="none"/>
                      <a:tailEnd len="sm" w="sm" type="none"/>
                    </a:lnR>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US"/>
                        <a:t>8</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US"/>
                        <a:t>387</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US"/>
                        <a:t>8</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83600">
                <a:tc>
                  <a:txBody>
                    <a:bodyPr/>
                    <a:lstStyle/>
                    <a:p>
                      <a:pPr indent="0" lvl="0" marL="0" rtl="0" algn="ctr">
                        <a:spcBef>
                          <a:spcPts val="0"/>
                        </a:spcBef>
                        <a:spcAft>
                          <a:spcPts val="0"/>
                        </a:spcAft>
                        <a:buNone/>
                      </a:pPr>
                      <a:r>
                        <a:rPr lang="en-US"/>
                        <a:t>Proposed Architecture</a:t>
                      </a:r>
                      <a:endParaRPr/>
                    </a:p>
                  </a:txBody>
                  <a:tcPr marT="91425" marB="91425" marR="91425" marL="91425">
                    <a:lnR cap="flat" cmpd="sng" w="9525">
                      <a:solidFill>
                        <a:schemeClr val="dk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US"/>
                        <a:t>16</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US"/>
                        <a:t>1504</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US"/>
                        <a:t>19</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83600">
                <a:tc>
                  <a:txBody>
                    <a:bodyPr/>
                    <a:lstStyle/>
                    <a:p>
                      <a:pPr indent="0" lvl="0" marL="0" rtl="0" algn="l">
                        <a:spcBef>
                          <a:spcPts val="0"/>
                        </a:spcBef>
                        <a:spcAft>
                          <a:spcPts val="0"/>
                        </a:spcAft>
                        <a:buNone/>
                      </a:pPr>
                      <a:r>
                        <a:t/>
                      </a:r>
                      <a:endParaRPr/>
                    </a:p>
                  </a:txBody>
                  <a:tcPr marT="91425" marB="91425" marR="91425" marL="91425">
                    <a:lnR cap="flat" cmpd="sng" w="9525">
                      <a:solidFill>
                        <a:schemeClr val="dk1"/>
                      </a:solidFill>
                      <a:prstDash val="solid"/>
                      <a:round/>
                      <a:headEnd len="sm" w="sm" type="none"/>
                      <a:tailEnd len="sm" w="sm" type="none"/>
                    </a:lnR>
                    <a:lnT cap="flat" cmpd="sng" w="9525">
                      <a:solidFill>
                        <a:schemeClr val="lt1"/>
                      </a:solidFill>
                      <a:prstDash val="solid"/>
                      <a:round/>
                      <a:headEnd len="sm" w="sm" type="none"/>
                      <a:tailEnd len="sm" w="sm" type="none"/>
                    </a:lnT>
                  </a:tcPr>
                </a:tc>
                <a:tc>
                  <a:txBody>
                    <a:bodyPr/>
                    <a:lstStyle/>
                    <a:p>
                      <a:pPr indent="0" lvl="0" marL="0" rtl="0" algn="ctr">
                        <a:spcBef>
                          <a:spcPts val="0"/>
                        </a:spcBef>
                        <a:spcAft>
                          <a:spcPts val="0"/>
                        </a:spcAft>
                        <a:buNone/>
                      </a:pPr>
                      <a:r>
                        <a:rPr lang="en-US"/>
                        <a:t>32</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US"/>
                        <a:t>5650</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US"/>
                        <a:t>47</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233" name="Google Shape;233;p28"/>
          <p:cNvSpPr txBox="1"/>
          <p:nvPr/>
        </p:nvSpPr>
        <p:spPr>
          <a:xfrm>
            <a:off x="605025" y="1298825"/>
            <a:ext cx="5302200" cy="4771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900" u="sng">
                <a:solidFill>
                  <a:schemeClr val="dk1"/>
                </a:solidFill>
                <a:latin typeface="Times"/>
                <a:ea typeface="Times"/>
                <a:cs typeface="Times"/>
                <a:sym typeface="Times"/>
              </a:rPr>
              <a:t>Context</a:t>
            </a:r>
            <a:r>
              <a:rPr b="1" lang="en-US" sz="1900">
                <a:solidFill>
                  <a:schemeClr val="dk1"/>
                </a:solidFill>
                <a:latin typeface="Times"/>
                <a:ea typeface="Times"/>
                <a:cs typeface="Times"/>
                <a:sym typeface="Times"/>
              </a:rPr>
              <a:t>:</a:t>
            </a:r>
            <a:r>
              <a:rPr lang="en-US" sz="1900">
                <a:solidFill>
                  <a:schemeClr val="dk1"/>
                </a:solidFill>
                <a:latin typeface="Times"/>
                <a:ea typeface="Times"/>
                <a:cs typeface="Times"/>
                <a:sym typeface="Times"/>
              </a:rPr>
              <a:t> Compared a multiplier-based complex multiplier (proposed design: two-stage adder with vector merging adder + final adder) against [4]'s baseline on Zynq-7000 using Vivado for ASICs/FPGAs.</a:t>
            </a:r>
            <a:endParaRPr sz="1900">
              <a:solidFill>
                <a:schemeClr val="dk1"/>
              </a:solidFill>
              <a:latin typeface="Times"/>
              <a:ea typeface="Times"/>
              <a:cs typeface="Times"/>
              <a:sym typeface="Times"/>
            </a:endParaRPr>
          </a:p>
          <a:p>
            <a:pPr indent="0" lvl="0" marL="0" rtl="0" algn="l">
              <a:spcBef>
                <a:spcPts val="1000"/>
              </a:spcBef>
              <a:spcAft>
                <a:spcPts val="0"/>
              </a:spcAft>
              <a:buNone/>
            </a:pPr>
            <a:r>
              <a:rPr i="1" lang="en-US" sz="1600">
                <a:solidFill>
                  <a:schemeClr val="dk1"/>
                </a:solidFill>
                <a:latin typeface="Times"/>
                <a:ea typeface="Times"/>
                <a:cs typeface="Times"/>
                <a:sym typeface="Times"/>
              </a:rPr>
              <a:t>[4] R. C. Ismail and R. Hussin, “High performance complex number multiplier using Booth-Wallace algorithm,” in Proc. IEEE International Conference on Semiconductor Electronics, 2006, pp. 786–790.</a:t>
            </a:r>
            <a:endParaRPr i="1" sz="1600">
              <a:solidFill>
                <a:schemeClr val="dk1"/>
              </a:solidFill>
              <a:latin typeface="Times"/>
              <a:ea typeface="Times"/>
              <a:cs typeface="Times"/>
              <a:sym typeface="Times"/>
            </a:endParaRPr>
          </a:p>
          <a:p>
            <a:pPr indent="0" lvl="0" marL="0" rtl="0" algn="l">
              <a:spcBef>
                <a:spcPts val="1000"/>
              </a:spcBef>
              <a:spcAft>
                <a:spcPts val="0"/>
              </a:spcAft>
              <a:buNone/>
            </a:pPr>
            <a:r>
              <a:rPr b="1" lang="en-US" sz="1900" u="sng">
                <a:solidFill>
                  <a:schemeClr val="dk1"/>
                </a:solidFill>
                <a:latin typeface="Times"/>
                <a:ea typeface="Times"/>
                <a:cs typeface="Times"/>
                <a:sym typeface="Times"/>
              </a:rPr>
              <a:t>Targets:</a:t>
            </a:r>
            <a:r>
              <a:rPr b="1" lang="en-US" sz="1900">
                <a:solidFill>
                  <a:schemeClr val="dk1"/>
                </a:solidFill>
                <a:latin typeface="Times"/>
                <a:ea typeface="Times"/>
                <a:cs typeface="Times"/>
                <a:sym typeface="Times"/>
              </a:rPr>
              <a:t> </a:t>
            </a:r>
            <a:r>
              <a:rPr lang="en-US" sz="1900">
                <a:solidFill>
                  <a:schemeClr val="dk1"/>
                </a:solidFill>
                <a:latin typeface="Times"/>
                <a:ea typeface="Times"/>
                <a:cs typeface="Times"/>
                <a:sym typeface="Times"/>
              </a:rPr>
              <a:t>Post-layout focus on LUTs and power at 50 MHz clock (EPC area/power optimized).</a:t>
            </a:r>
            <a:endParaRPr sz="1900">
              <a:solidFill>
                <a:schemeClr val="dk1"/>
              </a:solidFill>
              <a:latin typeface="Times"/>
              <a:ea typeface="Times"/>
              <a:cs typeface="Times"/>
              <a:sym typeface="Times"/>
            </a:endParaRPr>
          </a:p>
          <a:p>
            <a:pPr indent="0" lvl="0" marL="0" rtl="0" algn="l">
              <a:spcBef>
                <a:spcPts val="1000"/>
              </a:spcBef>
              <a:spcAft>
                <a:spcPts val="1000"/>
              </a:spcAft>
              <a:buNone/>
            </a:pPr>
            <a:r>
              <a:rPr b="1" lang="en-US" sz="1900" u="sng">
                <a:solidFill>
                  <a:schemeClr val="dk1"/>
                </a:solidFill>
                <a:latin typeface="Times"/>
                <a:ea typeface="Times"/>
                <a:cs typeface="Times"/>
                <a:sym typeface="Times"/>
              </a:rPr>
              <a:t>Big Picture</a:t>
            </a:r>
            <a:r>
              <a:rPr b="1" lang="en-US" sz="1900">
                <a:solidFill>
                  <a:schemeClr val="dk1"/>
                </a:solidFill>
                <a:latin typeface="Times"/>
                <a:ea typeface="Times"/>
                <a:cs typeface="Times"/>
                <a:sym typeface="Times"/>
              </a:rPr>
              <a:t>: </a:t>
            </a:r>
            <a:r>
              <a:rPr lang="en-US" sz="1900">
                <a:solidFill>
                  <a:schemeClr val="dk1"/>
                </a:solidFill>
                <a:latin typeface="Times"/>
                <a:ea typeface="Times"/>
                <a:cs typeface="Times"/>
                <a:sym typeface="Times"/>
              </a:rPr>
              <a:t>Given design slashes delay (~23% avg) and power (~22% avg) via efficient adder staging—perfect for scaling to 32-bit ops without blowing resources. </a:t>
            </a:r>
            <a:endParaRPr sz="1900">
              <a:solidFill>
                <a:schemeClr val="dk1"/>
              </a:solidFill>
              <a:latin typeface="Times"/>
              <a:ea typeface="Times"/>
              <a:cs typeface="Times"/>
              <a:sym typeface="Time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9"/>
          <p:cNvSpPr txBox="1"/>
          <p:nvPr>
            <p:ph type="title"/>
          </p:nvPr>
        </p:nvSpPr>
        <p:spPr>
          <a:xfrm>
            <a:off x="240872" y="202991"/>
            <a:ext cx="9389440" cy="55458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alibri"/>
              <a:buNone/>
            </a:pPr>
            <a:r>
              <a:rPr lang="en-US"/>
              <a:t>Conclusion</a:t>
            </a:r>
            <a:endParaRPr/>
          </a:p>
        </p:txBody>
      </p:sp>
      <p:sp>
        <p:nvSpPr>
          <p:cNvPr id="239" name="Google Shape;239;p29"/>
          <p:cNvSpPr txBox="1"/>
          <p:nvPr/>
        </p:nvSpPr>
        <p:spPr>
          <a:xfrm>
            <a:off x="766275" y="1263625"/>
            <a:ext cx="6481800" cy="34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900" u="sng">
                <a:solidFill>
                  <a:schemeClr val="dk1"/>
                </a:solidFill>
                <a:latin typeface="Times"/>
                <a:ea typeface="Times"/>
                <a:cs typeface="Times"/>
                <a:sym typeface="Times"/>
              </a:rPr>
              <a:t>The Problem</a:t>
            </a:r>
            <a:r>
              <a:rPr b="1" lang="en-US" sz="1900">
                <a:solidFill>
                  <a:schemeClr val="dk1"/>
                </a:solidFill>
                <a:latin typeface="Times"/>
                <a:ea typeface="Times"/>
                <a:cs typeface="Times"/>
                <a:sym typeface="Times"/>
              </a:rPr>
              <a:t>:</a:t>
            </a:r>
            <a:r>
              <a:rPr lang="en-US" sz="1900">
                <a:solidFill>
                  <a:schemeClr val="dk1"/>
                </a:solidFill>
                <a:latin typeface="Times"/>
                <a:ea typeface="Times"/>
                <a:cs typeface="Times"/>
                <a:sym typeface="Times"/>
              </a:rPr>
              <a:t> High-performance complex multiplication is a critical but challenging task in hardware design - </a:t>
            </a:r>
            <a:r>
              <a:rPr lang="en-US" sz="1937">
                <a:solidFill>
                  <a:schemeClr val="dk1"/>
                </a:solidFill>
                <a:latin typeface="Times"/>
                <a:ea typeface="Times"/>
                <a:cs typeface="Times"/>
                <a:sym typeface="Times"/>
              </a:rPr>
              <a:t>DSP, communications, AI, and scientific computing. Existing architectures incur overhead due to large partial product arrays and two-stage addition.</a:t>
            </a:r>
            <a:endParaRPr sz="1600">
              <a:solidFill>
                <a:schemeClr val="dk1"/>
              </a:solidFill>
              <a:latin typeface="Times"/>
              <a:ea typeface="Times"/>
              <a:cs typeface="Times"/>
              <a:sym typeface="Times"/>
            </a:endParaRPr>
          </a:p>
          <a:p>
            <a:pPr indent="0" lvl="0" marL="0" rtl="0" algn="l">
              <a:spcBef>
                <a:spcPts val="1000"/>
              </a:spcBef>
              <a:spcAft>
                <a:spcPts val="0"/>
              </a:spcAft>
              <a:buNone/>
            </a:pPr>
            <a:r>
              <a:rPr b="1" lang="en-US" sz="1900" u="sng">
                <a:solidFill>
                  <a:schemeClr val="dk1"/>
                </a:solidFill>
                <a:latin typeface="Times"/>
                <a:ea typeface="Times"/>
                <a:cs typeface="Times"/>
                <a:sym typeface="Times"/>
              </a:rPr>
              <a:t>The Solution</a:t>
            </a:r>
            <a:r>
              <a:rPr lang="en-US" sz="1900">
                <a:solidFill>
                  <a:schemeClr val="dk1"/>
                </a:solidFill>
                <a:latin typeface="Times"/>
                <a:ea typeface="Times"/>
                <a:cs typeface="Times"/>
                <a:sym typeface="Times"/>
              </a:rPr>
              <a:t>: This paper presented a novel architecture that achieves superior performance through two key innovations:</a:t>
            </a:r>
            <a:endParaRPr sz="1900">
              <a:solidFill>
                <a:schemeClr val="dk1"/>
              </a:solidFill>
              <a:latin typeface="Times"/>
              <a:ea typeface="Times"/>
              <a:cs typeface="Times"/>
              <a:sym typeface="Times"/>
            </a:endParaRPr>
          </a:p>
          <a:p>
            <a:pPr indent="-349250" lvl="0" marL="457200" rtl="0" algn="l">
              <a:spcBef>
                <a:spcPts val="1000"/>
              </a:spcBef>
              <a:spcAft>
                <a:spcPts val="0"/>
              </a:spcAft>
              <a:buClr>
                <a:schemeClr val="dk1"/>
              </a:buClr>
              <a:buSzPts val="1900"/>
              <a:buFont typeface="Times"/>
              <a:buChar char="●"/>
            </a:pPr>
            <a:r>
              <a:rPr lang="en-US" sz="1900" u="sng">
                <a:solidFill>
                  <a:schemeClr val="dk1"/>
                </a:solidFill>
                <a:latin typeface="Times"/>
                <a:ea typeface="Times"/>
                <a:cs typeface="Times"/>
                <a:sym typeface="Times"/>
              </a:rPr>
              <a:t>Radix-4 Booth Encoding</a:t>
            </a:r>
            <a:r>
              <a:rPr lang="en-US" sz="1900">
                <a:solidFill>
                  <a:schemeClr val="dk1"/>
                </a:solidFill>
                <a:latin typeface="Times"/>
                <a:ea typeface="Times"/>
                <a:cs typeface="Times"/>
                <a:sym typeface="Times"/>
              </a:rPr>
              <a:t> to halve the number of partial products.</a:t>
            </a:r>
            <a:endParaRPr sz="1900">
              <a:solidFill>
                <a:schemeClr val="dk1"/>
              </a:solidFill>
              <a:latin typeface="Times"/>
              <a:ea typeface="Times"/>
              <a:cs typeface="Times"/>
              <a:sym typeface="Times"/>
            </a:endParaRPr>
          </a:p>
          <a:p>
            <a:pPr indent="-349250" lvl="0" marL="457200" rtl="0" algn="l">
              <a:spcBef>
                <a:spcPts val="0"/>
              </a:spcBef>
              <a:spcAft>
                <a:spcPts val="0"/>
              </a:spcAft>
              <a:buClr>
                <a:schemeClr val="dk1"/>
              </a:buClr>
              <a:buSzPts val="1900"/>
              <a:buFont typeface="Times"/>
              <a:buChar char="●"/>
            </a:pPr>
            <a:r>
              <a:rPr lang="en-US" sz="1900" u="sng">
                <a:solidFill>
                  <a:schemeClr val="dk1"/>
                </a:solidFill>
                <a:latin typeface="Times"/>
                <a:ea typeface="Times"/>
                <a:cs typeface="Times"/>
                <a:sym typeface="Times"/>
              </a:rPr>
              <a:t>A Distributed Arithmetic approach</a:t>
            </a:r>
            <a:r>
              <a:rPr lang="en-US" sz="1900">
                <a:solidFill>
                  <a:schemeClr val="dk1"/>
                </a:solidFill>
                <a:latin typeface="Times"/>
                <a:ea typeface="Times"/>
                <a:cs typeface="Times"/>
                <a:sym typeface="Times"/>
              </a:rPr>
              <a:t> that combines calculations into a single, highly parallel reduction tree, eliminating a major speed bottleneck.</a:t>
            </a:r>
            <a:endParaRPr sz="1900">
              <a:solidFill>
                <a:schemeClr val="dk1"/>
              </a:solidFill>
              <a:latin typeface="Times"/>
              <a:ea typeface="Times"/>
              <a:cs typeface="Times"/>
              <a:sym typeface="Times"/>
            </a:endParaRPr>
          </a:p>
          <a:p>
            <a:pPr indent="0" lvl="0" marL="0" rtl="0" algn="l">
              <a:spcBef>
                <a:spcPts val="1000"/>
              </a:spcBef>
              <a:spcAft>
                <a:spcPts val="0"/>
              </a:spcAft>
              <a:buNone/>
            </a:pPr>
            <a:r>
              <a:rPr b="1" lang="en-US" sz="1900" u="sng">
                <a:solidFill>
                  <a:schemeClr val="dk1"/>
                </a:solidFill>
                <a:latin typeface="Times"/>
                <a:ea typeface="Times"/>
                <a:cs typeface="Times"/>
                <a:sym typeface="Times"/>
              </a:rPr>
              <a:t>The Impact</a:t>
            </a:r>
            <a:r>
              <a:rPr lang="en-US" sz="1900">
                <a:solidFill>
                  <a:schemeClr val="dk1"/>
                </a:solidFill>
                <a:latin typeface="Times"/>
                <a:ea typeface="Times"/>
                <a:cs typeface="Times"/>
                <a:sym typeface="Times"/>
              </a:rPr>
              <a:t>: The design is proven to be</a:t>
            </a:r>
            <a:r>
              <a:rPr lang="en-US" sz="1900">
                <a:solidFill>
                  <a:srgbClr val="5C5948"/>
                </a:solidFill>
                <a:latin typeface="Times"/>
                <a:ea typeface="Times"/>
                <a:cs typeface="Times"/>
                <a:sym typeface="Times"/>
              </a:rPr>
              <a:t> </a:t>
            </a:r>
            <a:r>
              <a:rPr b="1" lang="en-US" sz="1900">
                <a:solidFill>
                  <a:srgbClr val="188038"/>
                </a:solidFill>
                <a:latin typeface="Times"/>
                <a:ea typeface="Times"/>
                <a:cs typeface="Times"/>
                <a:sym typeface="Times"/>
              </a:rPr>
              <a:t>faster, smaller</a:t>
            </a:r>
            <a:r>
              <a:rPr lang="en-US" sz="1900">
                <a:solidFill>
                  <a:srgbClr val="5C5948"/>
                </a:solidFill>
                <a:latin typeface="Times"/>
                <a:ea typeface="Times"/>
                <a:cs typeface="Times"/>
                <a:sym typeface="Times"/>
              </a:rPr>
              <a:t>, and </a:t>
            </a:r>
            <a:r>
              <a:rPr b="1" lang="en-US" sz="1900">
                <a:solidFill>
                  <a:srgbClr val="188038"/>
                </a:solidFill>
                <a:latin typeface="Times"/>
                <a:ea typeface="Times"/>
                <a:cs typeface="Times"/>
                <a:sym typeface="Times"/>
              </a:rPr>
              <a:t>more power-efficient</a:t>
            </a:r>
            <a:r>
              <a:rPr lang="en-US" sz="1900">
                <a:solidFill>
                  <a:schemeClr val="dk1"/>
                </a:solidFill>
                <a:latin typeface="Times"/>
                <a:ea typeface="Times"/>
                <a:cs typeface="Times"/>
                <a:sym typeface="Times"/>
              </a:rPr>
              <a:t>, providing a powerful building block for the next generation of DSP, communications, and AI hardware.</a:t>
            </a:r>
            <a:endParaRPr sz="1900">
              <a:solidFill>
                <a:schemeClr val="dk1"/>
              </a:solidFill>
              <a:latin typeface="Times"/>
              <a:ea typeface="Times"/>
              <a:cs typeface="Times"/>
              <a:sym typeface="Times"/>
            </a:endParaRPr>
          </a:p>
          <a:p>
            <a:pPr indent="0" lvl="0" marL="0" rtl="0" algn="l">
              <a:spcBef>
                <a:spcPts val="1000"/>
              </a:spcBef>
              <a:spcAft>
                <a:spcPts val="1000"/>
              </a:spcAft>
              <a:buNone/>
            </a:pPr>
            <a:r>
              <a:t/>
            </a:r>
            <a:endParaRPr>
              <a:solidFill>
                <a:srgbClr val="5C5948"/>
              </a:solidFill>
              <a:latin typeface="Questrial"/>
              <a:ea typeface="Questrial"/>
              <a:cs typeface="Questrial"/>
              <a:sym typeface="Questrial"/>
            </a:endParaRPr>
          </a:p>
        </p:txBody>
      </p:sp>
      <p:pic>
        <p:nvPicPr>
          <p:cNvPr id="240" name="Google Shape;240;p29"/>
          <p:cNvPicPr preferRelativeResize="0"/>
          <p:nvPr/>
        </p:nvPicPr>
        <p:blipFill>
          <a:blip r:embed="rId3">
            <a:alphaModFix/>
          </a:blip>
          <a:stretch>
            <a:fillRect/>
          </a:stretch>
        </p:blipFill>
        <p:spPr>
          <a:xfrm>
            <a:off x="7647275" y="1306925"/>
            <a:ext cx="3748700" cy="476245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0"/>
          <p:cNvSpPr txBox="1"/>
          <p:nvPr>
            <p:ph idx="1" type="body"/>
          </p:nvPr>
        </p:nvSpPr>
        <p:spPr>
          <a:xfrm>
            <a:off x="240872" y="1173984"/>
            <a:ext cx="11690849" cy="5223272"/>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SzPts val="852"/>
              <a:buNone/>
            </a:pPr>
            <a:r>
              <a:rPr lang="en-US" sz="1450">
                <a:latin typeface="Times"/>
                <a:ea typeface="Times"/>
                <a:cs typeface="Times"/>
                <a:sym typeface="Times"/>
              </a:rPr>
              <a:t>[1]  M. Hemnani, S. Palekar, P. Dixit, and P. Joshi, “Hardware optimization of complex multiplication scheme for DSP application,” in Proc. Inter national Conference on Computer, Communication and Control (IC4), 2015, pp. 1–4. </a:t>
            </a:r>
            <a:endParaRPr sz="1450">
              <a:latin typeface="Times"/>
              <a:ea typeface="Times"/>
              <a:cs typeface="Times"/>
              <a:sym typeface="Times"/>
            </a:endParaRPr>
          </a:p>
          <a:p>
            <a:pPr indent="0" lvl="0" marL="0" marR="0" rtl="0" algn="l">
              <a:lnSpc>
                <a:spcPct val="90000"/>
              </a:lnSpc>
              <a:spcBef>
                <a:spcPts val="1000"/>
              </a:spcBef>
              <a:spcAft>
                <a:spcPts val="0"/>
              </a:spcAft>
              <a:buSzPts val="852"/>
              <a:buNone/>
            </a:pPr>
            <a:r>
              <a:rPr lang="en-US" sz="1450">
                <a:latin typeface="Times"/>
                <a:ea typeface="Times"/>
                <a:cs typeface="Times"/>
                <a:sym typeface="Times"/>
              </a:rPr>
              <a:t>[2]  K. D. Rao, C. Gangadhar, and P. K. Korrai, “FPGA implementation of complex multiplier using minimum delay vedic real multiplier architec ture,” in Proc. IEEE Uttar Pradesh Section International Conference on Electrical, Computer and Electronics Engineering (UPCON), 2016, pp. 580–584. </a:t>
            </a:r>
            <a:endParaRPr sz="1450">
              <a:latin typeface="Times"/>
              <a:ea typeface="Times"/>
              <a:cs typeface="Times"/>
              <a:sym typeface="Times"/>
            </a:endParaRPr>
          </a:p>
          <a:p>
            <a:pPr indent="0" lvl="0" marL="0" marR="0" rtl="0" algn="l">
              <a:lnSpc>
                <a:spcPct val="90000"/>
              </a:lnSpc>
              <a:spcBef>
                <a:spcPts val="1000"/>
              </a:spcBef>
              <a:spcAft>
                <a:spcPts val="0"/>
              </a:spcAft>
              <a:buSzPts val="852"/>
              <a:buNone/>
            </a:pPr>
            <a:r>
              <a:rPr lang="en-US" sz="1450">
                <a:latin typeface="Times"/>
                <a:ea typeface="Times"/>
                <a:cs typeface="Times"/>
                <a:sym typeface="Times"/>
              </a:rPr>
              <a:t>[3] V. Oklobdzija, D. Villeger, and T. Soulas, “Considerations for design of a complex multiplier,” in Proc. Conference Record of the Twenty-Sixth Asilomar Conference on Signals, Systems &amp; Computers, 1992, pp. 366 370 vol.1. </a:t>
            </a:r>
            <a:endParaRPr sz="1450">
              <a:latin typeface="Times"/>
              <a:ea typeface="Times"/>
              <a:cs typeface="Times"/>
              <a:sym typeface="Times"/>
            </a:endParaRPr>
          </a:p>
          <a:p>
            <a:pPr indent="0" lvl="0" marL="0" marR="0" rtl="0" algn="l">
              <a:lnSpc>
                <a:spcPct val="90000"/>
              </a:lnSpc>
              <a:spcBef>
                <a:spcPts val="1000"/>
              </a:spcBef>
              <a:spcAft>
                <a:spcPts val="0"/>
              </a:spcAft>
              <a:buSzPts val="852"/>
              <a:buNone/>
            </a:pPr>
            <a:r>
              <a:rPr lang="en-US" sz="1450">
                <a:latin typeface="Times"/>
                <a:ea typeface="Times"/>
                <a:cs typeface="Times"/>
                <a:sym typeface="Times"/>
              </a:rPr>
              <a:t>[4] R. C. Ismail and R. Hussin, “High performance complex number multiplier using Booth-Wallace algorithm,” in Proc. IEEE International Conference on Semiconductor Electronics, 2006, pp. 786–790. </a:t>
            </a:r>
            <a:endParaRPr sz="1450">
              <a:latin typeface="Times"/>
              <a:ea typeface="Times"/>
              <a:cs typeface="Times"/>
              <a:sym typeface="Times"/>
            </a:endParaRPr>
          </a:p>
          <a:p>
            <a:pPr indent="0" lvl="0" marL="0" marR="0" rtl="0" algn="l">
              <a:lnSpc>
                <a:spcPct val="90000"/>
              </a:lnSpc>
              <a:spcBef>
                <a:spcPts val="1000"/>
              </a:spcBef>
              <a:spcAft>
                <a:spcPts val="0"/>
              </a:spcAft>
              <a:buSzPts val="852"/>
              <a:buNone/>
            </a:pPr>
            <a:r>
              <a:rPr lang="en-US" sz="1450">
                <a:latin typeface="Times"/>
                <a:ea typeface="Times"/>
                <a:cs typeface="Times"/>
                <a:sym typeface="Times"/>
              </a:rPr>
              <a:t>[5] Z. Chen, Y. Du, B. Cheng, and W. Shan, “Design of high-efficiency complex multiplier for fault-tolerant computation,” Integration, vol. 90, pp. 190–195, 2023. </a:t>
            </a:r>
            <a:endParaRPr sz="1450">
              <a:latin typeface="Times"/>
              <a:ea typeface="Times"/>
              <a:cs typeface="Times"/>
              <a:sym typeface="Times"/>
            </a:endParaRPr>
          </a:p>
          <a:p>
            <a:pPr indent="0" lvl="0" marL="0" marR="0" rtl="0" algn="l">
              <a:lnSpc>
                <a:spcPct val="90000"/>
              </a:lnSpc>
              <a:spcBef>
                <a:spcPts val="1000"/>
              </a:spcBef>
              <a:spcAft>
                <a:spcPts val="0"/>
              </a:spcAft>
              <a:buSzPts val="852"/>
              <a:buNone/>
            </a:pPr>
            <a:r>
              <a:rPr lang="en-US" sz="1450">
                <a:latin typeface="Times"/>
                <a:ea typeface="Times"/>
                <a:cs typeface="Times"/>
                <a:sym typeface="Times"/>
              </a:rPr>
              <a:t>[6] M. Manimaraboopathy, G. Kumar, and M. Bennet, “Design and imple mentation of multiplier for complex numbers using CORDIC (COordinate Rotation Digital Computer) architecture,” International Journal of Pure and Applied Mathematics, vol. 119, pp. 159–164, 01 2018. </a:t>
            </a:r>
            <a:endParaRPr sz="1450">
              <a:latin typeface="Times"/>
              <a:ea typeface="Times"/>
              <a:cs typeface="Times"/>
              <a:sym typeface="Times"/>
            </a:endParaRPr>
          </a:p>
          <a:p>
            <a:pPr indent="0" lvl="0" marL="0" marR="0" rtl="0" algn="l">
              <a:lnSpc>
                <a:spcPct val="90000"/>
              </a:lnSpc>
              <a:spcBef>
                <a:spcPts val="1000"/>
              </a:spcBef>
              <a:spcAft>
                <a:spcPts val="0"/>
              </a:spcAft>
              <a:buSzPts val="852"/>
              <a:buNone/>
            </a:pPr>
            <a:r>
              <a:rPr lang="en-US" sz="1450">
                <a:latin typeface="Times"/>
                <a:ea typeface="Times"/>
                <a:cs typeface="Times"/>
                <a:sym typeface="Times"/>
              </a:rPr>
              <a:t>[7] D. M. T. Nguyen, P. M. M. Nguyen, H.-T. Ngo, and M.-S. Nguyen, “Design and implementation of complex multiplier with low power and high speed,” in Proc. 15th International Conference on Advanced Computing and Applications (ACOMP), 2021, pp. 215–219. </a:t>
            </a:r>
            <a:endParaRPr sz="1450">
              <a:latin typeface="Times"/>
              <a:ea typeface="Times"/>
              <a:cs typeface="Times"/>
              <a:sym typeface="Times"/>
            </a:endParaRPr>
          </a:p>
          <a:p>
            <a:pPr indent="0" lvl="0" marL="0" marR="0" rtl="0" algn="l">
              <a:lnSpc>
                <a:spcPct val="90000"/>
              </a:lnSpc>
              <a:spcBef>
                <a:spcPts val="1000"/>
              </a:spcBef>
              <a:spcAft>
                <a:spcPts val="0"/>
              </a:spcAft>
              <a:buSzPts val="852"/>
              <a:buNone/>
            </a:pPr>
            <a:r>
              <a:rPr lang="en-US" sz="1450">
                <a:latin typeface="Times"/>
                <a:ea typeface="Times"/>
                <a:cs typeface="Times"/>
                <a:sym typeface="Times"/>
              </a:rPr>
              <a:t>[8] Z. Huang and M. Ercegovac, “High-performance low-power left-to-right array multiplier design,” IEEE Transactions on Computers, vol. 54, no. 3, pp. 272–283, 2005. </a:t>
            </a:r>
            <a:endParaRPr sz="1450">
              <a:latin typeface="Times"/>
              <a:ea typeface="Times"/>
              <a:cs typeface="Times"/>
              <a:sym typeface="Times"/>
            </a:endParaRPr>
          </a:p>
          <a:p>
            <a:pPr indent="0" lvl="0" marL="0" marR="0" rtl="0" algn="l">
              <a:lnSpc>
                <a:spcPct val="90000"/>
              </a:lnSpc>
              <a:spcBef>
                <a:spcPts val="1000"/>
              </a:spcBef>
              <a:spcAft>
                <a:spcPts val="1000"/>
              </a:spcAft>
              <a:buSzPts val="852"/>
              <a:buNone/>
            </a:pPr>
            <a:r>
              <a:rPr lang="en-US" sz="1450">
                <a:latin typeface="Times"/>
                <a:ea typeface="Times"/>
                <a:cs typeface="Times"/>
                <a:sym typeface="Times"/>
              </a:rPr>
              <a:t>[9] S. R. Kuang, J. P. Wang, and C. Y. Guo, “Modified Booth multipliers with a regular partial product array,” IEEE Transactions on Circuits and Systems II: Express Briefs, vol. 56, no. 5, pp. 404–408, 2009.</a:t>
            </a:r>
            <a:endParaRPr sz="1760"/>
          </a:p>
        </p:txBody>
      </p:sp>
      <p:sp>
        <p:nvSpPr>
          <p:cNvPr id="246" name="Google Shape;246;p30"/>
          <p:cNvSpPr txBox="1"/>
          <p:nvPr>
            <p:ph type="title"/>
          </p:nvPr>
        </p:nvSpPr>
        <p:spPr>
          <a:xfrm>
            <a:off x="240872" y="202991"/>
            <a:ext cx="9389440" cy="55458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alibri"/>
              <a:buNone/>
            </a:pPr>
            <a:r>
              <a:rPr lang="en-US"/>
              <a:t>Reference</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